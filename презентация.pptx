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65" r:id="rId13"/>
  </p:sldIdLst>
  <p:sldSz cx="18288000" cy="10287000"/>
  <p:notesSz cx="6858000" cy="9144000"/>
  <p:embeddedFontLst>
    <p:embeddedFont>
      <p:font typeface="Helvetica Now Heavy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Aileron Light" panose="020B0604020202020204" charset="0"/>
      <p:regular r:id="rId19"/>
    </p:embeddedFont>
    <p:embeddedFont>
      <p:font typeface="Aileron Bold" panose="020B0604020202020204" charset="0"/>
      <p:regular r:id="rId20"/>
    </p:embeddedFont>
    <p:embeddedFont>
      <p:font typeface="Franklin Gothic Heavy" panose="020B0903020102020204" pitchFamily="34" charset="0"/>
      <p:regular r:id="rId21"/>
      <p:italic r:id="rId22"/>
    </p:embeddedFont>
    <p:embeddedFont>
      <p:font typeface="Franklin Gothic Medium" panose="020B0603020102020204" pitchFamily="34" charset="0"/>
      <p:regular r:id="rId23"/>
      <p:italic r:id="rId24"/>
    </p:embeddedFont>
    <p:embeddedFont>
      <p:font typeface="Bahnschrift Light SemiCondensed" panose="020B0502040204020203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E00"/>
    <a:srgbClr val="E7E7E9"/>
    <a:srgbClr val="C8B000"/>
    <a:srgbClr val="B4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208" autoAdjust="0"/>
  </p:normalViewPr>
  <p:slideViewPr>
    <p:cSldViewPr>
      <p:cViewPr varScale="1">
        <p:scale>
          <a:sx n="51" d="100"/>
          <a:sy n="51" d="100"/>
        </p:scale>
        <p:origin x="82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5c0523b773f9046f" providerId="LiveId" clId="{8B2AE428-7E0C-48C8-8B98-EBAE1D4F382D}"/>
    <pc:docChg chg="modSld">
      <pc:chgData name="" userId="5c0523b773f9046f" providerId="LiveId" clId="{8B2AE428-7E0C-48C8-8B98-EBAE1D4F382D}" dt="2026-06-25T16:03:27.884" v="31" actId="20577"/>
      <pc:docMkLst>
        <pc:docMk/>
      </pc:docMkLst>
      <pc:sldChg chg="modSp">
        <pc:chgData name="" userId="5c0523b773f9046f" providerId="LiveId" clId="{8B2AE428-7E0C-48C8-8B98-EBAE1D4F382D}" dt="2026-06-25T16:00:59.951" v="21"/>
        <pc:sldMkLst>
          <pc:docMk/>
          <pc:sldMk cId="0" sldId="256"/>
        </pc:sldMkLst>
        <pc:picChg chg="mod">
          <ac:chgData name="" userId="5c0523b773f9046f" providerId="LiveId" clId="{8B2AE428-7E0C-48C8-8B98-EBAE1D4F382D}" dt="2026-06-25T16:00:59.951" v="21"/>
          <ac:picMkLst>
            <pc:docMk/>
            <pc:sldMk cId="0" sldId="256"/>
            <ac:picMk id="33" creationId="{061D1013-0486-4C52-9876-D372F3D43E3E}"/>
          </ac:picMkLst>
        </pc:picChg>
      </pc:sldChg>
      <pc:sldChg chg="modSp mod">
        <pc:chgData name="" userId="5c0523b773f9046f" providerId="LiveId" clId="{8B2AE428-7E0C-48C8-8B98-EBAE1D4F382D}" dt="2026-06-24T13:53:25.061" v="16" actId="20577"/>
        <pc:sldMkLst>
          <pc:docMk/>
          <pc:sldMk cId="2705319831" sldId="267"/>
        </pc:sldMkLst>
        <pc:spChg chg="mod">
          <ac:chgData name="" userId="5c0523b773f9046f" providerId="LiveId" clId="{8B2AE428-7E0C-48C8-8B98-EBAE1D4F382D}" dt="2026-06-24T13:53:25.061" v="16" actId="20577"/>
          <ac:spMkLst>
            <pc:docMk/>
            <pc:sldMk cId="2705319831" sldId="267"/>
            <ac:spMk id="2" creationId="{341BB3C3-C091-43B3-9CD6-9770A0CE9B44}"/>
          </ac:spMkLst>
        </pc:spChg>
      </pc:sldChg>
      <pc:sldChg chg="modSp">
        <pc:chgData name="" userId="5c0523b773f9046f" providerId="LiveId" clId="{8B2AE428-7E0C-48C8-8B98-EBAE1D4F382D}" dt="2026-06-25T16:03:27.884" v="31" actId="20577"/>
        <pc:sldMkLst>
          <pc:docMk/>
          <pc:sldMk cId="755283464" sldId="269"/>
        </pc:sldMkLst>
        <pc:spChg chg="mod">
          <ac:chgData name="" userId="5c0523b773f9046f" providerId="LiveId" clId="{8B2AE428-7E0C-48C8-8B98-EBAE1D4F382D}" dt="2026-06-24T14:10:05.750" v="19" actId="20577"/>
          <ac:spMkLst>
            <pc:docMk/>
            <pc:sldMk cId="755283464" sldId="269"/>
            <ac:spMk id="2" creationId="{D1122D1A-91D3-4471-A9D7-9520C4FF02D2}"/>
          </ac:spMkLst>
        </pc:spChg>
        <pc:spChg chg="mod ord">
          <ac:chgData name="" userId="5c0523b773f9046f" providerId="LiveId" clId="{8B2AE428-7E0C-48C8-8B98-EBAE1D4F382D}" dt="2026-06-25T16:03:06.301" v="25" actId="167"/>
          <ac:spMkLst>
            <pc:docMk/>
            <pc:sldMk cId="755283464" sldId="269"/>
            <ac:spMk id="6" creationId="{7FEFCC7F-ACED-4613-A591-E1A935BBBED6}"/>
          </ac:spMkLst>
        </pc:spChg>
        <pc:spChg chg="mod ord">
          <ac:chgData name="" userId="5c0523b773f9046f" providerId="LiveId" clId="{8B2AE428-7E0C-48C8-8B98-EBAE1D4F382D}" dt="2026-06-25T16:03:21.187" v="27" actId="1076"/>
          <ac:spMkLst>
            <pc:docMk/>
            <pc:sldMk cId="755283464" sldId="269"/>
            <ac:spMk id="8" creationId="{AA5F538D-E9F7-416F-A3D5-6B0C9D912E26}"/>
          </ac:spMkLst>
        </pc:spChg>
        <pc:spChg chg="mod ord">
          <ac:chgData name="" userId="5c0523b773f9046f" providerId="LiveId" clId="{8B2AE428-7E0C-48C8-8B98-EBAE1D4F382D}" dt="2026-06-25T16:03:27.884" v="31" actId="20577"/>
          <ac:spMkLst>
            <pc:docMk/>
            <pc:sldMk cId="755283464" sldId="269"/>
            <ac:spMk id="9" creationId="{0A15857F-36B1-4631-8D57-0DECEDFD2EF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ahnschrift Light SemiCondensed" panose="020B0502040204020203" pitchFamily="3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0</c:v>
                </c:pt>
                <c:pt idx="1">
                  <c:v>81</c:v>
                </c:pt>
                <c:pt idx="2">
                  <c:v>1208</c:v>
                </c:pt>
                <c:pt idx="3">
                  <c:v>1719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B8-44B4-A19E-C80D8F8594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Чистая прибыль</c:v>
                </c:pt>
              </c:strCache>
            </c:strRef>
          </c:tx>
          <c:spPr>
            <a:ln w="635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ahnschrift Light SemiCondensed" panose="020B0502040204020203" pitchFamily="3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0</c:v>
                </c:pt>
                <c:pt idx="1">
                  <c:v>-41</c:v>
                </c:pt>
                <c:pt idx="2">
                  <c:v>357</c:v>
                </c:pt>
                <c:pt idx="3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B8-44B4-A19E-C80D8F8594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Прочие расходы</c:v>
                </c:pt>
              </c:strCache>
            </c:strRef>
          </c:tx>
          <c:spPr>
            <a:ln w="6350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ahnschrift Light SemiCondensed" panose="020B0502040204020203" pitchFamily="34" charset="0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0</c:v>
                </c:pt>
                <c:pt idx="1">
                  <c:v>67</c:v>
                </c:pt>
                <c:pt idx="2">
                  <c:v>87</c:v>
                </c:pt>
                <c:pt idx="3">
                  <c:v>598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B8-44B4-A19E-C80D8F85947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72021599"/>
        <c:axId val="1813730447"/>
      </c:lineChart>
      <c:catAx>
        <c:axId val="5720215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pPr>
            <a:endParaRPr lang="ru-RU"/>
          </a:p>
        </c:txPr>
        <c:crossAx val="1813730447"/>
        <c:crosses val="autoZero"/>
        <c:auto val="1"/>
        <c:lblAlgn val="ctr"/>
        <c:lblOffset val="100"/>
        <c:noMultiLvlLbl val="0"/>
      </c:catAx>
      <c:valAx>
        <c:axId val="1813730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pPr>
            <a:endParaRPr lang="ru-RU"/>
          </a:p>
        </c:txPr>
        <c:crossAx val="572021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0748542570792514"/>
          <c:y val="0.94147526107108948"/>
          <c:w val="0.54496426808035137"/>
          <c:h val="4.43403417657899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Bahnschrift Light SemiCondensed" panose="020B0502040204020203" pitchFamily="34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 b="0">
          <a:latin typeface="Bahnschrift Light SemiCondensed" panose="020B0502040204020203" pitchFamily="34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rafik 3">
            <a:extLst>
              <a:ext uri="{FF2B5EF4-FFF2-40B4-BE49-F238E27FC236}">
                <a16:creationId xmlns:a16="http://schemas.microsoft.com/office/drawing/2014/main" id="{061D1013-0486-4C52-9876-D372F3D43E3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285086" y="3666987"/>
            <a:ext cx="4209318" cy="4196992"/>
          </a:xfrm>
          <a:prstGeom prst="rect">
            <a:avLst/>
          </a:prstGeom>
        </p:spPr>
      </p:pic>
      <p:pic>
        <p:nvPicPr>
          <p:cNvPr id="32" name="Grafik 3">
            <a:extLst>
              <a:ext uri="{FF2B5EF4-FFF2-40B4-BE49-F238E27FC236}">
                <a16:creationId xmlns:a16="http://schemas.microsoft.com/office/drawing/2014/main" id="{9607D2AD-5105-4C84-8D16-CD98CAB2D0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44800" y="-2219447"/>
            <a:ext cx="4209318" cy="419699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85800" y="1397984"/>
            <a:ext cx="17454716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7200" b="1" spc="300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</a:rPr>
              <a:t>ИНФОРМАЦИОННО-АНАЛИТИЧЕСКАЯ СИСТЕМА МОНИТОРИНГА КЛЮЧЕВЫХ ПОКАЗАТЕЛЕЙ ЭФФЕКТИВНОСТИ МИНИМАРКЕТА</a:t>
            </a:r>
            <a:endParaRPr lang="en-US" sz="9600" b="1" spc="300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  <p:grpSp>
        <p:nvGrpSpPr>
          <p:cNvPr id="23" name="Group 5">
            <a:extLst>
              <a:ext uri="{FF2B5EF4-FFF2-40B4-BE49-F238E27FC236}">
                <a16:creationId xmlns:a16="http://schemas.microsoft.com/office/drawing/2014/main" id="{470D3DDE-DC8D-4177-9AE4-636D3842A153}"/>
              </a:ext>
            </a:extLst>
          </p:cNvPr>
          <p:cNvGrpSpPr/>
          <p:nvPr/>
        </p:nvGrpSpPr>
        <p:grpSpPr>
          <a:xfrm>
            <a:off x="924232" y="6622767"/>
            <a:ext cx="17373600" cy="3359433"/>
            <a:chOff x="0" y="0"/>
            <a:chExt cx="4274726" cy="812800"/>
          </a:xfrm>
          <a:solidFill>
            <a:schemeClr val="tx2">
              <a:lumMod val="75000"/>
            </a:schemeClr>
          </a:solidFill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007F71A2-42A5-485A-B367-FAC1045C7D78}"/>
                </a:ext>
              </a:extLst>
            </p:cNvPr>
            <p:cNvSpPr/>
            <p:nvPr/>
          </p:nvSpPr>
          <p:spPr>
            <a:xfrm>
              <a:off x="0" y="0"/>
              <a:ext cx="4274726" cy="812800"/>
            </a:xfrm>
            <a:prstGeom prst="rect">
              <a:avLst/>
            </a:prstGeom>
            <a:grpFill/>
          </p:spPr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5384AA00-42DA-4D98-81A7-9B0154FE2A34}"/>
                </a:ext>
              </a:extLst>
            </p:cNvPr>
            <p:cNvSpPr txBox="1"/>
            <p:nvPr/>
          </p:nvSpPr>
          <p:spPr>
            <a:xfrm>
              <a:off x="0" y="-47625"/>
              <a:ext cx="4274726" cy="86042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378F9D5-69BF-4512-A768-5BE5C4C339CD}"/>
              </a:ext>
            </a:extLst>
          </p:cNvPr>
          <p:cNvSpPr/>
          <p:nvPr/>
        </p:nvSpPr>
        <p:spPr>
          <a:xfrm>
            <a:off x="1295400" y="7065222"/>
            <a:ext cx="7239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Выполнила</a:t>
            </a:r>
            <a:r>
              <a:rPr lang="ru-RU" sz="22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:</a:t>
            </a:r>
          </a:p>
          <a:p>
            <a:r>
              <a:rPr lang="ru-RU" sz="2200" dirty="0" err="1">
                <a:solidFill>
                  <a:schemeClr val="bg1"/>
                </a:solidFill>
                <a:latin typeface="Bahnschrift Light SemiCondensed" panose="020B0502040204020203" pitchFamily="34" charset="0"/>
              </a:rPr>
              <a:t>Баранбаева</a:t>
            </a:r>
            <a:r>
              <a:rPr lang="ru-RU" sz="22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 Р.М</a:t>
            </a:r>
          </a:p>
          <a:p>
            <a:r>
              <a:rPr lang="ru-RU" sz="22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студент 4 курса, группы БИН-б-о-22-1</a:t>
            </a:r>
          </a:p>
          <a:p>
            <a:r>
              <a:rPr lang="ru-RU" sz="22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направления 38.03.05 Бизнес-информатика (направленность (профиль) «Информационная бизнес-аналитика и цифровые технологии»)</a:t>
            </a:r>
          </a:p>
          <a:p>
            <a:r>
              <a:rPr lang="ru-RU" sz="22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очной формы обучения</a:t>
            </a:r>
          </a:p>
          <a:p>
            <a:endParaRPr lang="ru-RU" sz="2200" dirty="0">
              <a:solidFill>
                <a:schemeClr val="bg1"/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6A66C16-F4FF-4499-B672-CF2463D01607}"/>
              </a:ext>
            </a:extLst>
          </p:cNvPr>
          <p:cNvSpPr/>
          <p:nvPr/>
        </p:nvSpPr>
        <p:spPr>
          <a:xfrm>
            <a:off x="11506200" y="7065222"/>
            <a:ext cx="51054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Научный руководитель: </a:t>
            </a:r>
          </a:p>
          <a:p>
            <a:r>
              <a:rPr lang="ru-RU" sz="2200" dirty="0" err="1">
                <a:solidFill>
                  <a:schemeClr val="bg1"/>
                </a:solidFill>
                <a:latin typeface="Bahnschrift Light SemiCondensed" panose="020B0502040204020203" pitchFamily="34" charset="0"/>
              </a:rPr>
              <a:t>Буценко</a:t>
            </a:r>
            <a:r>
              <a:rPr lang="ru-RU" sz="22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 Л.С. </a:t>
            </a:r>
          </a:p>
          <a:p>
            <a:r>
              <a:rPr lang="ru-RU" sz="22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д.э.н., профессор кафедры цифровых бизнес-технологий и систем учета</a:t>
            </a: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EE30BF94-AACC-4F99-8DEE-6D85230F6453}"/>
              </a:ext>
            </a:extLst>
          </p:cNvPr>
          <p:cNvSpPr txBox="1"/>
          <p:nvPr/>
        </p:nvSpPr>
        <p:spPr>
          <a:xfrm>
            <a:off x="71284" y="9055894"/>
            <a:ext cx="77183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8000" b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</a:rPr>
              <a:t>1</a:t>
            </a:r>
            <a:endParaRPr lang="en-US" sz="11500" b="1" spc="-2193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B9BF75-34A0-49E8-AE3D-C697D376DA5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6069"/>
            <a:ext cx="5345078" cy="7239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454400" y="2707789"/>
            <a:ext cx="4666081" cy="26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ru-RU" sz="2400" b="1" dirty="0">
                <a:solidFill>
                  <a:srgbClr val="151515"/>
                </a:solidFill>
                <a:latin typeface="Bahnschrift Light SemiCondensed" panose="020B0502040204020203" pitchFamily="34" charset="0"/>
                <a:ea typeface="Aileron Bold"/>
                <a:cs typeface="Aileron Bold"/>
                <a:sym typeface="Aileron Bold"/>
              </a:rPr>
              <a:t>Задачи</a:t>
            </a:r>
            <a:endParaRPr lang="en-US" sz="2400" b="1" dirty="0">
              <a:solidFill>
                <a:srgbClr val="151515"/>
              </a:solidFill>
              <a:latin typeface="Bahnschrift Light SemiCondensed" panose="020B0502040204020203" pitchFamily="34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74ADE06-5AF8-4754-BEB6-829F8A5F6C19}"/>
              </a:ext>
            </a:extLst>
          </p:cNvPr>
          <p:cNvSpPr/>
          <p:nvPr/>
        </p:nvSpPr>
        <p:spPr>
          <a:xfrm>
            <a:off x="1395943" y="566647"/>
            <a:ext cx="101167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Bahnschrift Light SemiCondensed" panose="020B0502040204020203" pitchFamily="34" charset="0"/>
              </a:rPr>
              <a:t>Цель</a:t>
            </a:r>
            <a:r>
              <a:rPr lang="ru-RU" sz="2400" dirty="0">
                <a:latin typeface="Bahnschrift Light SemiCondensed" panose="020B0502040204020203" pitchFamily="34" charset="0"/>
              </a:rPr>
              <a:t> – разработка информационно-аналитической системы мониторинга ключевых показателей деятельности </a:t>
            </a:r>
            <a:r>
              <a:rPr lang="ru-RU" sz="2400" dirty="0" err="1">
                <a:latin typeface="Bahnschrift Light SemiCondensed" panose="020B0502040204020203" pitchFamily="34" charset="0"/>
              </a:rPr>
              <a:t>минимаркета</a:t>
            </a:r>
            <a:r>
              <a:rPr lang="ru-RU" sz="2400" dirty="0">
                <a:latin typeface="Bahnschrift Light SemiCondensed" panose="020B0502040204020203" pitchFamily="34" charset="0"/>
              </a:rPr>
              <a:t>, обеспечивающей, анализ и визуальное представление данных о продажах, товарных запасах и финансовых результатах предприятия. </a:t>
            </a:r>
          </a:p>
        </p:txBody>
      </p:sp>
      <p:pic>
        <p:nvPicPr>
          <p:cNvPr id="20" name="Grafik 3">
            <a:extLst>
              <a:ext uri="{FF2B5EF4-FFF2-40B4-BE49-F238E27FC236}">
                <a16:creationId xmlns:a16="http://schemas.microsoft.com/office/drawing/2014/main" id="{1A057409-DCCB-4AAE-92B1-F16F4143855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57703" y="-3672952"/>
            <a:ext cx="10724771" cy="1069336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969CF09-5EFF-4FCF-84E5-D637112454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4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18" y="995528"/>
            <a:ext cx="711898" cy="711898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A0FCEF3-C1FB-4354-9758-53C3DDD0334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68" y="2405666"/>
            <a:ext cx="864597" cy="864597"/>
          </a:xfrm>
          <a:prstGeom prst="rect">
            <a:avLst/>
          </a:prstGeom>
        </p:spPr>
      </p:pic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9263EE5B-F3A4-4BEC-A22D-18268612EEE9}"/>
              </a:ext>
            </a:extLst>
          </p:cNvPr>
          <p:cNvGrpSpPr/>
          <p:nvPr/>
        </p:nvGrpSpPr>
        <p:grpSpPr>
          <a:xfrm>
            <a:off x="487090" y="3539621"/>
            <a:ext cx="5596831" cy="1846659"/>
            <a:chOff x="487090" y="3539621"/>
            <a:chExt cx="5596831" cy="1846659"/>
          </a:xfrm>
        </p:grpSpPr>
        <p:sp>
          <p:nvSpPr>
            <p:cNvPr id="7" name="TextBox 7"/>
            <p:cNvSpPr txBox="1"/>
            <p:nvPr/>
          </p:nvSpPr>
          <p:spPr>
            <a:xfrm>
              <a:off x="1281048" y="3539621"/>
              <a:ext cx="4802873" cy="18466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/>
              <a:r>
                <a:rPr lang="ru-RU" sz="2400" dirty="0">
                  <a:latin typeface="Bahnschrift Light SemiCondensed" panose="020B0502040204020203" pitchFamily="34" charset="0"/>
                </a:rPr>
                <a:t>исследовать теоретические и методологические основы применения ключевых показателей эффективности в системе управления предприятиями розничной торговли;</a:t>
              </a:r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68AD8D38-0505-43E7-838C-74B77D560658}"/>
                </a:ext>
              </a:extLst>
            </p:cNvPr>
            <p:cNvSpPr/>
            <p:nvPr/>
          </p:nvSpPr>
          <p:spPr>
            <a:xfrm>
              <a:off x="487090" y="3625775"/>
              <a:ext cx="648918" cy="64381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999"/>
                </a:lnSpc>
              </a:pPr>
              <a:r>
                <a:rPr lang="ru-RU" sz="2400" b="1" dirty="0">
                  <a:solidFill>
                    <a:schemeClr val="bg1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</a:t>
              </a:r>
              <a:endParaRPr lang="en-US" sz="2400" b="1" dirty="0">
                <a:solidFill>
                  <a:schemeClr val="bg1"/>
                </a:solidFill>
                <a:latin typeface="Aileron Bold"/>
                <a:ea typeface="Aileron Bold"/>
                <a:cs typeface="Aileron Bold"/>
                <a:sym typeface="Aileron Bold"/>
              </a:endParaRPr>
            </a:p>
          </p:txBody>
        </p: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91482031-D45F-4528-B6B1-43DA3AEA7DB8}"/>
                </a:ext>
              </a:extLst>
            </p:cNvPr>
            <p:cNvCxnSpPr>
              <a:cxnSpLocks/>
              <a:stCxn id="44" idx="2"/>
              <a:endCxn id="7" idx="1"/>
            </p:cNvCxnSpPr>
            <p:nvPr/>
          </p:nvCxnSpPr>
          <p:spPr>
            <a:xfrm rot="16200000" flipH="1">
              <a:off x="949619" y="4131522"/>
              <a:ext cx="193358" cy="469499"/>
            </a:xfrm>
            <a:prstGeom prst="bentConnector2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0849B89B-9F42-4701-99F0-30FC3BE9EBC8}"/>
              </a:ext>
            </a:extLst>
          </p:cNvPr>
          <p:cNvGrpSpPr/>
          <p:nvPr/>
        </p:nvGrpSpPr>
        <p:grpSpPr>
          <a:xfrm>
            <a:off x="6228961" y="3539621"/>
            <a:ext cx="6295677" cy="2215991"/>
            <a:chOff x="6083923" y="3886402"/>
            <a:chExt cx="6295677" cy="2215991"/>
          </a:xfrm>
        </p:grpSpPr>
        <p:sp>
          <p:nvSpPr>
            <p:cNvPr id="8" name="TextBox 8"/>
            <p:cNvSpPr txBox="1"/>
            <p:nvPr/>
          </p:nvSpPr>
          <p:spPr>
            <a:xfrm>
              <a:off x="6869431" y="3886402"/>
              <a:ext cx="5510169" cy="22159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/>
              <a:r>
                <a:rPr lang="ru-RU" sz="2400" dirty="0">
                  <a:latin typeface="Bahnschrift Light SemiCondensed" panose="020B0502040204020203" pitchFamily="34" charset="0"/>
                </a:rPr>
                <a:t>провести комплексный анализ деятельности </a:t>
              </a:r>
              <a:r>
                <a:rPr lang="ru-RU" sz="2400" dirty="0" err="1">
                  <a:latin typeface="Bahnschrift Light SemiCondensed" panose="020B0502040204020203" pitchFamily="34" charset="0"/>
                </a:rPr>
                <a:t>минимаркета</a:t>
              </a:r>
              <a:r>
                <a:rPr lang="ru-RU" sz="2400" dirty="0">
                  <a:latin typeface="Bahnschrift Light SemiCondensed" panose="020B0502040204020203" pitchFamily="34" charset="0"/>
                </a:rPr>
                <a:t>, изучить особенности его бизнес-процессов и информационной среды, выявить существующие проблемы информационного обеспечения управления;</a:t>
              </a:r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8C59C143-56BD-48F3-B9AF-52962DE66E20}"/>
                </a:ext>
              </a:extLst>
            </p:cNvPr>
            <p:cNvSpPr/>
            <p:nvPr/>
          </p:nvSpPr>
          <p:spPr>
            <a:xfrm>
              <a:off x="6083923" y="3975603"/>
              <a:ext cx="644400" cy="64381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999"/>
                </a:lnSpc>
              </a:pPr>
              <a:r>
                <a:rPr lang="ru-RU" sz="2400" b="1" dirty="0">
                  <a:solidFill>
                    <a:schemeClr val="bg1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</a:t>
              </a:r>
              <a:endParaRPr lang="en-US" sz="2400" b="1" dirty="0">
                <a:solidFill>
                  <a:schemeClr val="bg1"/>
                </a:solidFill>
                <a:latin typeface="Aileron Bold"/>
                <a:ea typeface="Aileron Bold"/>
                <a:cs typeface="Aileron Bold"/>
                <a:sym typeface="Aileron Bold"/>
              </a:endParaRPr>
            </a:p>
          </p:txBody>
        </p:sp>
        <p:cxnSp>
          <p:nvCxnSpPr>
            <p:cNvPr id="51" name="Соединитель: уступ 50">
              <a:extLst>
                <a:ext uri="{FF2B5EF4-FFF2-40B4-BE49-F238E27FC236}">
                  <a16:creationId xmlns:a16="http://schemas.microsoft.com/office/drawing/2014/main" id="{8B80EB61-D14C-417E-8B9D-A45DD83DDE24}"/>
                </a:ext>
              </a:extLst>
            </p:cNvPr>
            <p:cNvCxnSpPr>
              <a:stCxn id="46" idx="2"/>
              <a:endCxn id="8" idx="1"/>
            </p:cNvCxnSpPr>
            <p:nvPr/>
          </p:nvCxnSpPr>
          <p:spPr>
            <a:xfrm rot="16200000" flipH="1">
              <a:off x="6450289" y="4575255"/>
              <a:ext cx="374977" cy="463308"/>
            </a:xfrm>
            <a:prstGeom prst="bentConnector2">
              <a:avLst/>
            </a:prstGeom>
            <a:ln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59842333-76EF-443C-860F-EAC5CA1C2752}"/>
              </a:ext>
            </a:extLst>
          </p:cNvPr>
          <p:cNvGrpSpPr/>
          <p:nvPr/>
        </p:nvGrpSpPr>
        <p:grpSpPr>
          <a:xfrm>
            <a:off x="484418" y="6127644"/>
            <a:ext cx="5375307" cy="1846659"/>
            <a:chOff x="345597" y="6187178"/>
            <a:chExt cx="5375307" cy="1846659"/>
          </a:xfrm>
        </p:grpSpPr>
        <p:sp>
          <p:nvSpPr>
            <p:cNvPr id="9" name="TextBox 9"/>
            <p:cNvSpPr txBox="1"/>
            <p:nvPr/>
          </p:nvSpPr>
          <p:spPr>
            <a:xfrm>
              <a:off x="1131105" y="6187178"/>
              <a:ext cx="4589799" cy="18466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/>
              <a:r>
                <a:rPr lang="ru-RU" sz="2400" dirty="0">
                  <a:latin typeface="Bahnschrift Light SemiCondensed" panose="020B0502040204020203" pitchFamily="34" charset="0"/>
                </a:rPr>
                <a:t>разработать информационно-аналитическую систему мониторинга KPI, обеспечивающую, анализ и визуальное представление данных о деятельности предприятия;</a:t>
              </a:r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id="{0C078807-B0C4-40BD-ACE8-8A8FFE2E6B5C}"/>
                </a:ext>
              </a:extLst>
            </p:cNvPr>
            <p:cNvSpPr/>
            <p:nvPr/>
          </p:nvSpPr>
          <p:spPr>
            <a:xfrm>
              <a:off x="345597" y="6286500"/>
              <a:ext cx="644400" cy="64381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999"/>
                </a:lnSpc>
              </a:pPr>
              <a:r>
                <a:rPr lang="ru-RU" sz="2400" b="1" dirty="0">
                  <a:solidFill>
                    <a:schemeClr val="bg1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</a:t>
              </a:r>
              <a:endParaRPr lang="en-US" sz="2400" b="1" dirty="0">
                <a:solidFill>
                  <a:schemeClr val="bg1"/>
                </a:solidFill>
                <a:latin typeface="Aileron Bold"/>
                <a:ea typeface="Aileron Bold"/>
                <a:cs typeface="Aileron Bold"/>
                <a:sym typeface="Aileron Bold"/>
              </a:endParaRPr>
            </a:p>
          </p:txBody>
        </p:sp>
        <p:cxnSp>
          <p:nvCxnSpPr>
            <p:cNvPr id="53" name="Соединитель: уступ 52">
              <a:extLst>
                <a:ext uri="{FF2B5EF4-FFF2-40B4-BE49-F238E27FC236}">
                  <a16:creationId xmlns:a16="http://schemas.microsoft.com/office/drawing/2014/main" id="{204B63B3-7856-40B2-9E61-1A0077BB52BB}"/>
                </a:ext>
              </a:extLst>
            </p:cNvPr>
            <p:cNvCxnSpPr>
              <a:cxnSpLocks/>
              <a:stCxn id="47" idx="2"/>
              <a:endCxn id="9" idx="1"/>
            </p:cNvCxnSpPr>
            <p:nvPr/>
          </p:nvCxnSpPr>
          <p:spPr>
            <a:xfrm rot="16200000" flipH="1">
              <a:off x="809356" y="6788759"/>
              <a:ext cx="180190" cy="463308"/>
            </a:xfrm>
            <a:prstGeom prst="bentConnector2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7E244254-9A8C-48B7-B13C-6DD1C04DCF2C}"/>
              </a:ext>
            </a:extLst>
          </p:cNvPr>
          <p:cNvGrpSpPr/>
          <p:nvPr/>
        </p:nvGrpSpPr>
        <p:grpSpPr>
          <a:xfrm>
            <a:off x="6228961" y="6127644"/>
            <a:ext cx="6295677" cy="2215991"/>
            <a:chOff x="6083923" y="6189682"/>
            <a:chExt cx="6295677" cy="2215991"/>
          </a:xfrm>
        </p:grpSpPr>
        <p:sp>
          <p:nvSpPr>
            <p:cNvPr id="10" name="TextBox 10"/>
            <p:cNvSpPr txBox="1"/>
            <p:nvPr/>
          </p:nvSpPr>
          <p:spPr>
            <a:xfrm>
              <a:off x="6869431" y="6189682"/>
              <a:ext cx="5510169" cy="22159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/>
              <a:r>
                <a:rPr lang="ru-RU" sz="2400" dirty="0">
                  <a:latin typeface="Bahnschrift Light SemiCondensed" panose="020B0502040204020203" pitchFamily="34" charset="0"/>
                </a:rPr>
                <a:t>выполнить оценку практической применимости разработанного решения и определить его влияние на качество информационной поддержки управленческих решений в деятельности </a:t>
              </a:r>
              <a:r>
                <a:rPr lang="ru-RU" sz="2400" dirty="0" err="1">
                  <a:latin typeface="Bahnschrift Light SemiCondensed" panose="020B0502040204020203" pitchFamily="34" charset="0"/>
                </a:rPr>
                <a:t>минимаркета</a:t>
              </a:r>
              <a:r>
                <a:rPr lang="ru-RU" sz="2400" dirty="0">
                  <a:latin typeface="Bahnschrift Light SemiCondensed" panose="020B0502040204020203" pitchFamily="34" charset="0"/>
                </a:rPr>
                <a:t>.</a:t>
              </a:r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4270E5B0-6DD7-492F-B396-70F4458229E4}"/>
                </a:ext>
              </a:extLst>
            </p:cNvPr>
            <p:cNvSpPr/>
            <p:nvPr/>
          </p:nvSpPr>
          <p:spPr>
            <a:xfrm>
              <a:off x="6083923" y="6286500"/>
              <a:ext cx="644400" cy="64381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999"/>
                </a:lnSpc>
              </a:pPr>
              <a:r>
                <a:rPr lang="ru-RU" sz="2400" b="1" dirty="0">
                  <a:solidFill>
                    <a:schemeClr val="bg1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4</a:t>
              </a:r>
              <a:endParaRPr lang="en-US" sz="2400" b="1" dirty="0">
                <a:solidFill>
                  <a:schemeClr val="bg1"/>
                </a:solidFill>
                <a:latin typeface="Aileron Bold"/>
                <a:ea typeface="Aileron Bold"/>
                <a:cs typeface="Aileron Bold"/>
                <a:sym typeface="Aileron Bold"/>
              </a:endParaRPr>
            </a:p>
          </p:txBody>
        </p:sp>
        <p:cxnSp>
          <p:nvCxnSpPr>
            <p:cNvPr id="55" name="Соединитель: уступ 54">
              <a:extLst>
                <a:ext uri="{FF2B5EF4-FFF2-40B4-BE49-F238E27FC236}">
                  <a16:creationId xmlns:a16="http://schemas.microsoft.com/office/drawing/2014/main" id="{8A2FAA42-6F09-4B30-9D89-20163146F24F}"/>
                </a:ext>
              </a:extLst>
            </p:cNvPr>
            <p:cNvCxnSpPr>
              <a:cxnSpLocks/>
              <a:stCxn id="45" idx="2"/>
              <a:endCxn id="10" idx="1"/>
            </p:cNvCxnSpPr>
            <p:nvPr/>
          </p:nvCxnSpPr>
          <p:spPr>
            <a:xfrm rot="16200000" flipH="1">
              <a:off x="6454097" y="6882344"/>
              <a:ext cx="367360" cy="463308"/>
            </a:xfrm>
            <a:prstGeom prst="bentConnector2">
              <a:avLst/>
            </a:prstGeom>
            <a:ln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6" name="TextBox 3">
            <a:extLst>
              <a:ext uri="{FF2B5EF4-FFF2-40B4-BE49-F238E27FC236}">
                <a16:creationId xmlns:a16="http://schemas.microsoft.com/office/drawing/2014/main" id="{A13B106F-351A-41B2-85C6-00AE6A319D52}"/>
              </a:ext>
            </a:extLst>
          </p:cNvPr>
          <p:cNvSpPr txBox="1"/>
          <p:nvPr/>
        </p:nvSpPr>
        <p:spPr>
          <a:xfrm>
            <a:off x="71284" y="9055894"/>
            <a:ext cx="77183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8000" b="1" spc="-2193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2</a:t>
            </a:r>
            <a:endParaRPr lang="en-US" sz="11500" b="1" spc="-2193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3">
            <a:extLst>
              <a:ext uri="{FF2B5EF4-FFF2-40B4-BE49-F238E27FC236}">
                <a16:creationId xmlns:a16="http://schemas.microsoft.com/office/drawing/2014/main" id="{05844F69-6A1D-42F9-B556-64E7DC75EB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964201">
            <a:off x="-729168" y="-2570002"/>
            <a:ext cx="4341921" cy="5870279"/>
          </a:xfrm>
          <a:prstGeom prst="rect">
            <a:avLst/>
          </a:prstGeom>
        </p:spPr>
      </p:pic>
      <p:pic>
        <p:nvPicPr>
          <p:cNvPr id="31" name="Grafik 3">
            <a:extLst>
              <a:ext uri="{FF2B5EF4-FFF2-40B4-BE49-F238E27FC236}">
                <a16:creationId xmlns:a16="http://schemas.microsoft.com/office/drawing/2014/main" id="{6ABAD658-BB4B-426B-93CB-7E18D8F2F90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99545" y="5465523"/>
            <a:ext cx="6831935" cy="681192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034890" y="419100"/>
            <a:ext cx="10938910" cy="1756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746"/>
              </a:lnSpc>
            </a:pPr>
            <a:r>
              <a:rPr lang="ru-RU" sz="13300" b="1" spc="-150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Medium" panose="020B0603020102020204" pitchFamily="34" charset="0"/>
                <a:ea typeface="Helvetica Now Heavy"/>
                <a:cs typeface="Helvetica Now Heavy"/>
                <a:sym typeface="Helvetica Now Heavy"/>
              </a:rPr>
              <a:t>Актуальность</a:t>
            </a:r>
            <a:endParaRPr lang="en-US" sz="13300" b="1" spc="-150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Medium" panose="020B06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034890" y="1705294"/>
            <a:ext cx="9955522" cy="4699866"/>
            <a:chOff x="0" y="0"/>
            <a:chExt cx="4274726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8128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27472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288251" y="2241768"/>
            <a:ext cx="9448800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ru-RU" sz="32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моей работы обусловлена тем, что в последние годы цифровизация розничной торговли стала одним из приоритетных направлений развития бизнеса. По данным Росстата, в апреле 2026 года объём розничной торговли в Российской Федерации вырос на 6,5% по сравнению с аналогичным месяцем 2025 года и составил 5,48 триллионов рублей. </a:t>
            </a:r>
            <a:endParaRPr lang="en-US" sz="2400" dirty="0">
              <a:solidFill>
                <a:schemeClr val="bg1"/>
              </a:solidFill>
              <a:latin typeface="Bahnschrift Light SemiCondensed" panose="020B0502040204020203" pitchFamily="34" charset="0"/>
              <a:ea typeface="Aileron Light"/>
              <a:cs typeface="Aileron Light"/>
              <a:sym typeface="Aileron Light"/>
            </a:endParaRPr>
          </a:p>
        </p:txBody>
      </p: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3A874C89-01BB-42C4-9062-79B247483DCF}"/>
              </a:ext>
            </a:extLst>
          </p:cNvPr>
          <p:cNvGrpSpPr/>
          <p:nvPr/>
        </p:nvGrpSpPr>
        <p:grpSpPr>
          <a:xfrm>
            <a:off x="1069746" y="1953968"/>
            <a:ext cx="5029200" cy="6013988"/>
            <a:chOff x="992506" y="2476500"/>
            <a:chExt cx="3909694" cy="60139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2" name="Persegi Panjang: Sudut Lengkung 3">
              <a:extLst>
                <a:ext uri="{FF2B5EF4-FFF2-40B4-BE49-F238E27FC236}">
                  <a16:creationId xmlns:a16="http://schemas.microsoft.com/office/drawing/2014/main" id="{84A52D6D-8CFE-4BC2-A672-536746F261A8}"/>
                </a:ext>
              </a:extLst>
            </p:cNvPr>
            <p:cNvSpPr/>
            <p:nvPr/>
          </p:nvSpPr>
          <p:spPr>
            <a:xfrm>
              <a:off x="992506" y="2476500"/>
              <a:ext cx="1930400" cy="6013988"/>
            </a:xfrm>
            <a:prstGeom prst="roundRect">
              <a:avLst/>
            </a:prstGeom>
            <a:gradFill>
              <a:gsLst>
                <a:gs pos="16000">
                  <a:schemeClr val="tx2">
                    <a:lumMod val="30000"/>
                    <a:lumOff val="70000"/>
                  </a:schemeClr>
                </a:gs>
                <a:gs pos="75000">
                  <a:schemeClr val="tx2">
                    <a:lumMod val="10000"/>
                    <a:lumOff val="90000"/>
                  </a:schemeClr>
                </a:gs>
                <a:gs pos="100000">
                  <a:schemeClr val="tx2">
                    <a:lumMod val="30000"/>
                    <a:lumOff val="70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b="1" dirty="0"/>
            </a:p>
          </p:txBody>
        </p:sp>
        <p:sp>
          <p:nvSpPr>
            <p:cNvPr id="33" name="Kotak Teks 16">
              <a:extLst>
                <a:ext uri="{FF2B5EF4-FFF2-40B4-BE49-F238E27FC236}">
                  <a16:creationId xmlns:a16="http://schemas.microsoft.com/office/drawing/2014/main" id="{0347DD11-F610-4A39-9623-409B00DA3A81}"/>
                </a:ext>
              </a:extLst>
            </p:cNvPr>
            <p:cNvSpPr txBox="1"/>
            <p:nvPr/>
          </p:nvSpPr>
          <p:spPr>
            <a:xfrm>
              <a:off x="1170781" y="7528034"/>
              <a:ext cx="175212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400" b="1" dirty="0">
                  <a:latin typeface="Bahnschrift Light SemiCondensed" panose="020B0502040204020203" pitchFamily="34" charset="0"/>
                </a:rPr>
                <a:t>5,48 </a:t>
              </a:r>
            </a:p>
            <a:p>
              <a:r>
                <a:rPr lang="ru-RU" sz="2400" b="1" dirty="0">
                  <a:latin typeface="Bahnschrift Light SemiCondensed" panose="020B0502040204020203" pitchFamily="34" charset="0"/>
                </a:rPr>
                <a:t>трлн. руб.</a:t>
              </a:r>
              <a:endParaRPr lang="id-ID" sz="2400" b="1" dirty="0">
                <a:latin typeface="Bahnschrift Light SemiCondensed" panose="020B0502040204020203" pitchFamily="34" charset="0"/>
              </a:endParaRPr>
            </a:p>
          </p:txBody>
        </p:sp>
        <p:sp>
          <p:nvSpPr>
            <p:cNvPr id="34" name="Kotak Teks 19">
              <a:extLst>
                <a:ext uri="{FF2B5EF4-FFF2-40B4-BE49-F238E27FC236}">
                  <a16:creationId xmlns:a16="http://schemas.microsoft.com/office/drawing/2014/main" id="{09CA687F-C1AB-41BC-8F22-4267E30CF47D}"/>
                </a:ext>
              </a:extLst>
            </p:cNvPr>
            <p:cNvSpPr txBox="1"/>
            <p:nvPr/>
          </p:nvSpPr>
          <p:spPr>
            <a:xfrm>
              <a:off x="1612271" y="2705100"/>
              <a:ext cx="1310635" cy="535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ru-RU" sz="2400" b="1" dirty="0">
                  <a:latin typeface="Bahnschrift Light SemiCondensed" panose="020B0502040204020203" pitchFamily="34" charset="0"/>
                </a:rPr>
                <a:t>апр. </a:t>
              </a:r>
              <a:r>
                <a:rPr lang="en-US" sz="2400" b="1" dirty="0">
                  <a:latin typeface="Bahnschrift Light SemiCondensed" panose="020B0502040204020203" pitchFamily="34" charset="0"/>
                </a:rPr>
                <a:t>2026</a:t>
              </a:r>
              <a:r>
                <a:rPr lang="ru-RU" sz="2400" b="1" dirty="0">
                  <a:latin typeface="Bahnschrift Light SemiCondensed" panose="020B0502040204020203" pitchFamily="34" charset="0"/>
                </a:rPr>
                <a:t> г.</a:t>
              </a:r>
              <a:endParaRPr lang="id-ID" sz="2400" b="1" dirty="0">
                <a:latin typeface="Bahnschrift Light SemiCondensed" panose="020B0502040204020203" pitchFamily="34" charset="0"/>
              </a:endParaRPr>
            </a:p>
          </p:txBody>
        </p:sp>
        <p:grpSp>
          <p:nvGrpSpPr>
            <p:cNvPr id="35" name="Grup 22">
              <a:extLst>
                <a:ext uri="{FF2B5EF4-FFF2-40B4-BE49-F238E27FC236}">
                  <a16:creationId xmlns:a16="http://schemas.microsoft.com/office/drawing/2014/main" id="{032398D3-0C65-411C-BCBA-FD7428715FB7}"/>
                </a:ext>
              </a:extLst>
            </p:cNvPr>
            <p:cNvGrpSpPr/>
            <p:nvPr/>
          </p:nvGrpSpPr>
          <p:grpSpPr>
            <a:xfrm>
              <a:off x="2971800" y="5905500"/>
              <a:ext cx="1930400" cy="2584988"/>
              <a:chOff x="2284730" y="2932795"/>
              <a:chExt cx="1930400" cy="3304960"/>
            </a:xfrm>
          </p:grpSpPr>
          <p:sp>
            <p:nvSpPr>
              <p:cNvPr id="36" name="Persegi Panjang: Sudut Lengkung 4">
                <a:extLst>
                  <a:ext uri="{FF2B5EF4-FFF2-40B4-BE49-F238E27FC236}">
                    <a16:creationId xmlns:a16="http://schemas.microsoft.com/office/drawing/2014/main" id="{74ADF58C-EF82-4178-80F1-CB9ABCAD4EDB}"/>
                  </a:ext>
                </a:extLst>
              </p:cNvPr>
              <p:cNvSpPr/>
              <p:nvPr/>
            </p:nvSpPr>
            <p:spPr>
              <a:xfrm>
                <a:off x="2284730" y="2932795"/>
                <a:ext cx="1930400" cy="330496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70000"/>
                      <a:lumOff val="30000"/>
                    </a:schemeClr>
                  </a:gs>
                  <a:gs pos="46000">
                    <a:schemeClr val="tx2">
                      <a:lumMod val="80000"/>
                      <a:lumOff val="2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b="1" dirty="0"/>
              </a:p>
            </p:txBody>
          </p:sp>
          <p:sp>
            <p:nvSpPr>
              <p:cNvPr id="38" name="Kotak Teks 17">
                <a:extLst>
                  <a:ext uri="{FF2B5EF4-FFF2-40B4-BE49-F238E27FC236}">
                    <a16:creationId xmlns:a16="http://schemas.microsoft.com/office/drawing/2014/main" id="{6A4CC42F-9771-4204-A6A5-7FA4D42A2F40}"/>
                  </a:ext>
                </a:extLst>
              </p:cNvPr>
              <p:cNvSpPr txBox="1"/>
              <p:nvPr/>
            </p:nvSpPr>
            <p:spPr>
              <a:xfrm>
                <a:off x="2390233" y="5046543"/>
                <a:ext cx="1824897" cy="10624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5,15 </a:t>
                </a:r>
              </a:p>
              <a:p>
                <a:r>
                  <a:rPr lang="ru-RU" sz="24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трлн. руб.</a:t>
                </a:r>
                <a:endParaRPr lang="id-ID" sz="2400" b="1" dirty="0">
                  <a:solidFill>
                    <a:schemeClr val="bg1"/>
                  </a:solidFill>
                  <a:latin typeface="Bahnschrift Light SemiCondensed" panose="020B0502040204020203" pitchFamily="34" charset="0"/>
                </a:endParaRPr>
              </a:p>
            </p:txBody>
          </p:sp>
          <p:sp>
            <p:nvSpPr>
              <p:cNvPr id="39" name="Kotak Teks 20">
                <a:extLst>
                  <a:ext uri="{FF2B5EF4-FFF2-40B4-BE49-F238E27FC236}">
                    <a16:creationId xmlns:a16="http://schemas.microsoft.com/office/drawing/2014/main" id="{80E770F4-6D42-4E4C-AEF3-DD4A3215A0F4}"/>
                  </a:ext>
                </a:extLst>
              </p:cNvPr>
              <p:cNvSpPr txBox="1"/>
              <p:nvPr/>
            </p:nvSpPr>
            <p:spPr>
              <a:xfrm>
                <a:off x="2915187" y="3127642"/>
                <a:ext cx="1299943" cy="624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ru-RU" sz="2400" b="1" dirty="0">
                    <a:solidFill>
                      <a:schemeClr val="bg1"/>
                    </a:solidFill>
                    <a:latin typeface="Bahnschrift Light SemiCondensed" panose="020B0502040204020203" pitchFamily="34" charset="0"/>
                  </a:rPr>
                  <a:t>апр. 2025 г.</a:t>
                </a:r>
              </a:p>
            </p:txBody>
          </p:sp>
        </p:grpSp>
        <p:grpSp>
          <p:nvGrpSpPr>
            <p:cNvPr id="44" name="Группа 43">
              <a:extLst>
                <a:ext uri="{FF2B5EF4-FFF2-40B4-BE49-F238E27FC236}">
                  <a16:creationId xmlns:a16="http://schemas.microsoft.com/office/drawing/2014/main" id="{F1D73215-D5E7-4447-9A15-CDF803F14276}"/>
                </a:ext>
              </a:extLst>
            </p:cNvPr>
            <p:cNvGrpSpPr/>
            <p:nvPr/>
          </p:nvGrpSpPr>
          <p:grpSpPr>
            <a:xfrm>
              <a:off x="3077303" y="5408803"/>
              <a:ext cx="316246" cy="406176"/>
              <a:chOff x="4384647" y="4437627"/>
              <a:chExt cx="316246" cy="406176"/>
            </a:xfrm>
          </p:grpSpPr>
          <p:sp>
            <p:nvSpPr>
              <p:cNvPr id="42" name="Oval 11">
                <a:extLst>
                  <a:ext uri="{FF2B5EF4-FFF2-40B4-BE49-F238E27FC236}">
                    <a16:creationId xmlns:a16="http://schemas.microsoft.com/office/drawing/2014/main" id="{D892B9A7-4D43-40A7-A07F-3A431DF2E5CB}"/>
                  </a:ext>
                </a:extLst>
              </p:cNvPr>
              <p:cNvSpPr/>
              <p:nvPr/>
            </p:nvSpPr>
            <p:spPr>
              <a:xfrm>
                <a:off x="4384647" y="4437627"/>
                <a:ext cx="316246" cy="4061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b="1" dirty="0"/>
              </a:p>
            </p:txBody>
          </p:sp>
          <p:sp>
            <p:nvSpPr>
              <p:cNvPr id="43" name="Grafik 17">
                <a:extLst>
                  <a:ext uri="{FF2B5EF4-FFF2-40B4-BE49-F238E27FC236}">
                    <a16:creationId xmlns:a16="http://schemas.microsoft.com/office/drawing/2014/main" id="{F0C789BA-E3B5-49F6-B43A-E2FE004EF96F}"/>
                  </a:ext>
                </a:extLst>
              </p:cNvPr>
              <p:cNvSpPr/>
              <p:nvPr/>
            </p:nvSpPr>
            <p:spPr>
              <a:xfrm rot="16200000">
                <a:off x="4501759" y="4584742"/>
                <a:ext cx="82021" cy="111945"/>
              </a:xfrm>
              <a:custGeom>
                <a:avLst/>
                <a:gdLst>
                  <a:gd name="csX0" fmla="*/ 10001 w 68651"/>
                  <a:gd name="csY0" fmla="*/ 346 h 119456"/>
                  <a:gd name="csX1" fmla="*/ 68009 w 68651"/>
                  <a:gd name="csY1" fmla="*/ 58639 h 119456"/>
                  <a:gd name="csX2" fmla="*/ 68009 w 68651"/>
                  <a:gd name="csY2" fmla="*/ 61020 h 119456"/>
                  <a:gd name="csX3" fmla="*/ 10001 w 68651"/>
                  <a:gd name="csY3" fmla="*/ 119028 h 119456"/>
                  <a:gd name="csX4" fmla="*/ 7620 w 68651"/>
                  <a:gd name="csY4" fmla="*/ 119028 h 119456"/>
                  <a:gd name="csX5" fmla="*/ 0 w 68651"/>
                  <a:gd name="csY5" fmla="*/ 111598 h 119456"/>
                  <a:gd name="csX6" fmla="*/ 50768 w 68651"/>
                  <a:gd name="csY6" fmla="*/ 61116 h 119456"/>
                  <a:gd name="csX7" fmla="*/ 50768 w 68651"/>
                  <a:gd name="csY7" fmla="*/ 58734 h 119456"/>
                  <a:gd name="csX8" fmla="*/ 0 w 68651"/>
                  <a:gd name="csY8" fmla="*/ 7966 h 119456"/>
                  <a:gd name="csX9" fmla="*/ 7525 w 68651"/>
                  <a:gd name="csY9" fmla="*/ 441 h 119456"/>
                  <a:gd name="csX10" fmla="*/ 10001 w 68651"/>
                  <a:gd name="csY10" fmla="*/ 346 h 119456"/>
                  <a:gd name="csX11" fmla="*/ 10001 w 68651"/>
                  <a:gd name="csY11" fmla="*/ 346 h 1194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8651" h="119456">
                    <a:moveTo>
                      <a:pt x="10001" y="346"/>
                    </a:moveTo>
                    <a:lnTo>
                      <a:pt x="68009" y="58639"/>
                    </a:lnTo>
                    <a:cubicBezTo>
                      <a:pt x="68866" y="59211"/>
                      <a:pt x="68866" y="60258"/>
                      <a:pt x="68009" y="61020"/>
                    </a:cubicBezTo>
                    <a:lnTo>
                      <a:pt x="10001" y="119028"/>
                    </a:lnTo>
                    <a:cubicBezTo>
                      <a:pt x="9239" y="119599"/>
                      <a:pt x="8096" y="119599"/>
                      <a:pt x="7620" y="119028"/>
                    </a:cubicBezTo>
                    <a:lnTo>
                      <a:pt x="0" y="111598"/>
                    </a:lnTo>
                    <a:lnTo>
                      <a:pt x="50768" y="61116"/>
                    </a:lnTo>
                    <a:cubicBezTo>
                      <a:pt x="51340" y="60258"/>
                      <a:pt x="51340" y="59211"/>
                      <a:pt x="50768" y="58734"/>
                    </a:cubicBezTo>
                    <a:lnTo>
                      <a:pt x="0" y="7966"/>
                    </a:lnTo>
                    <a:lnTo>
                      <a:pt x="7525" y="441"/>
                    </a:lnTo>
                    <a:cubicBezTo>
                      <a:pt x="8096" y="-130"/>
                      <a:pt x="9144" y="-130"/>
                      <a:pt x="10001" y="346"/>
                    </a:cubicBezTo>
                    <a:lnTo>
                      <a:pt x="10001" y="3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</p:sp>
        </p:grp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FD6D791B-9EFA-46F0-B5A3-3239B0A426ED}"/>
              </a:ext>
            </a:extLst>
          </p:cNvPr>
          <p:cNvGrpSpPr/>
          <p:nvPr/>
        </p:nvGrpSpPr>
        <p:grpSpPr>
          <a:xfrm>
            <a:off x="1160903" y="1443430"/>
            <a:ext cx="406176" cy="406176"/>
            <a:chOff x="4189206" y="4850598"/>
            <a:chExt cx="406176" cy="4061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0" name="Oval 11">
              <a:extLst>
                <a:ext uri="{FF2B5EF4-FFF2-40B4-BE49-F238E27FC236}">
                  <a16:creationId xmlns:a16="http://schemas.microsoft.com/office/drawing/2014/main" id="{7128597B-AD5A-460F-8A4C-51FAE5D5104C}"/>
                </a:ext>
              </a:extLst>
            </p:cNvPr>
            <p:cNvSpPr/>
            <p:nvPr/>
          </p:nvSpPr>
          <p:spPr>
            <a:xfrm>
              <a:off x="4189206" y="4850598"/>
              <a:ext cx="406176" cy="4061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51" name="Grafik 17">
              <a:extLst>
                <a:ext uri="{FF2B5EF4-FFF2-40B4-BE49-F238E27FC236}">
                  <a16:creationId xmlns:a16="http://schemas.microsoft.com/office/drawing/2014/main" id="{A50B67BA-C4D8-42A2-B6E3-47584892EAF3}"/>
                </a:ext>
              </a:extLst>
            </p:cNvPr>
            <p:cNvSpPr/>
            <p:nvPr/>
          </p:nvSpPr>
          <p:spPr>
            <a:xfrm rot="16200000">
              <a:off x="4357724" y="4982324"/>
              <a:ext cx="82021" cy="142722"/>
            </a:xfrm>
            <a:custGeom>
              <a:avLst/>
              <a:gdLst>
                <a:gd name="csX0" fmla="*/ 10001 w 68651"/>
                <a:gd name="csY0" fmla="*/ 346 h 119456"/>
                <a:gd name="csX1" fmla="*/ 68009 w 68651"/>
                <a:gd name="csY1" fmla="*/ 58639 h 119456"/>
                <a:gd name="csX2" fmla="*/ 68009 w 68651"/>
                <a:gd name="csY2" fmla="*/ 61020 h 119456"/>
                <a:gd name="csX3" fmla="*/ 10001 w 68651"/>
                <a:gd name="csY3" fmla="*/ 119028 h 119456"/>
                <a:gd name="csX4" fmla="*/ 7620 w 68651"/>
                <a:gd name="csY4" fmla="*/ 119028 h 119456"/>
                <a:gd name="csX5" fmla="*/ 0 w 68651"/>
                <a:gd name="csY5" fmla="*/ 111598 h 119456"/>
                <a:gd name="csX6" fmla="*/ 50768 w 68651"/>
                <a:gd name="csY6" fmla="*/ 61116 h 119456"/>
                <a:gd name="csX7" fmla="*/ 50768 w 68651"/>
                <a:gd name="csY7" fmla="*/ 58734 h 119456"/>
                <a:gd name="csX8" fmla="*/ 0 w 68651"/>
                <a:gd name="csY8" fmla="*/ 7966 h 119456"/>
                <a:gd name="csX9" fmla="*/ 7525 w 68651"/>
                <a:gd name="csY9" fmla="*/ 441 h 119456"/>
                <a:gd name="csX10" fmla="*/ 10001 w 68651"/>
                <a:gd name="csY10" fmla="*/ 346 h 119456"/>
                <a:gd name="csX11" fmla="*/ 10001 w 68651"/>
                <a:gd name="csY11" fmla="*/ 346 h 119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8651" h="119456">
                  <a:moveTo>
                    <a:pt x="10001" y="346"/>
                  </a:moveTo>
                  <a:lnTo>
                    <a:pt x="68009" y="58639"/>
                  </a:lnTo>
                  <a:cubicBezTo>
                    <a:pt x="68866" y="59211"/>
                    <a:pt x="68866" y="60258"/>
                    <a:pt x="68009" y="61020"/>
                  </a:cubicBezTo>
                  <a:lnTo>
                    <a:pt x="10001" y="119028"/>
                  </a:lnTo>
                  <a:cubicBezTo>
                    <a:pt x="9239" y="119599"/>
                    <a:pt x="8096" y="119599"/>
                    <a:pt x="7620" y="119028"/>
                  </a:cubicBezTo>
                  <a:lnTo>
                    <a:pt x="0" y="111598"/>
                  </a:lnTo>
                  <a:lnTo>
                    <a:pt x="50768" y="61116"/>
                  </a:lnTo>
                  <a:cubicBezTo>
                    <a:pt x="51340" y="60258"/>
                    <a:pt x="51340" y="59211"/>
                    <a:pt x="50768" y="58734"/>
                  </a:cubicBezTo>
                  <a:lnTo>
                    <a:pt x="0" y="7966"/>
                  </a:lnTo>
                  <a:lnTo>
                    <a:pt x="7525" y="441"/>
                  </a:lnTo>
                  <a:cubicBezTo>
                    <a:pt x="8096" y="-130"/>
                    <a:pt x="9144" y="-130"/>
                    <a:pt x="10001" y="346"/>
                  </a:cubicBezTo>
                  <a:lnTo>
                    <a:pt x="10001" y="346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</p:sp>
      </p:grp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A7448FC6-4CDB-497F-A6FF-C387243E6807}"/>
              </a:ext>
            </a:extLst>
          </p:cNvPr>
          <p:cNvSpPr/>
          <p:nvPr/>
        </p:nvSpPr>
        <p:spPr>
          <a:xfrm>
            <a:off x="1143000" y="8161255"/>
            <a:ext cx="49455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ahnschrift Light SemiCondensed" panose="020B0502040204020203" pitchFamily="34" charset="0"/>
              </a:rPr>
              <a:t>Оборот розничной торговли в РФ</a:t>
            </a:r>
          </a:p>
        </p:txBody>
      </p:sp>
      <p:sp>
        <p:nvSpPr>
          <p:cNvPr id="54" name="TextBox 3">
            <a:extLst>
              <a:ext uri="{FF2B5EF4-FFF2-40B4-BE49-F238E27FC236}">
                <a16:creationId xmlns:a16="http://schemas.microsoft.com/office/drawing/2014/main" id="{1A7E17D4-61F7-412F-B03A-C2F84F960070}"/>
              </a:ext>
            </a:extLst>
          </p:cNvPr>
          <p:cNvSpPr txBox="1"/>
          <p:nvPr/>
        </p:nvSpPr>
        <p:spPr>
          <a:xfrm>
            <a:off x="71284" y="9055894"/>
            <a:ext cx="77183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8000" b="1" spc="-2193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3</a:t>
            </a:r>
            <a:endParaRPr lang="en-US" sz="11500" b="1" spc="-2193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3">
            <a:extLst>
              <a:ext uri="{FF2B5EF4-FFF2-40B4-BE49-F238E27FC236}">
                <a16:creationId xmlns:a16="http://schemas.microsoft.com/office/drawing/2014/main" id="{757B2114-9467-464B-A16F-8192D0146AF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847838" y="4229100"/>
            <a:ext cx="2880323" cy="2941106"/>
          </a:xfrm>
          <a:prstGeom prst="rect">
            <a:avLst/>
          </a:prstGeom>
        </p:spPr>
      </p:pic>
      <p:pic>
        <p:nvPicPr>
          <p:cNvPr id="19" name="Grafik 3">
            <a:extLst>
              <a:ext uri="{FF2B5EF4-FFF2-40B4-BE49-F238E27FC236}">
                <a16:creationId xmlns:a16="http://schemas.microsoft.com/office/drawing/2014/main" id="{04117442-B7DB-4EB1-8F65-649673F34D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674202">
            <a:off x="447973" y="-3756310"/>
            <a:ext cx="7365335" cy="1059286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305368" y="2361040"/>
            <a:ext cx="10210800" cy="35137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746"/>
              </a:lnSpc>
            </a:pPr>
            <a:r>
              <a:rPr lang="ru-RU" sz="13300" b="1" spc="300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ОБЪЕКТ </a:t>
            </a:r>
            <a:r>
              <a:rPr lang="en-US" sz="13300" b="1" spc="300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&amp;</a:t>
            </a:r>
            <a:r>
              <a:rPr lang="ru-RU" sz="13300" b="1" spc="300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 ПРЕДМЕТ</a:t>
            </a:r>
            <a:endParaRPr lang="en-US" sz="13300" b="1" spc="300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6C59C2D-6415-46F5-9955-06BCC1AF2D8A}"/>
              </a:ext>
            </a:extLst>
          </p:cNvPr>
          <p:cNvSpPr/>
          <p:nvPr/>
        </p:nvSpPr>
        <p:spPr>
          <a:xfrm>
            <a:off x="381000" y="6834871"/>
            <a:ext cx="8305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latin typeface="Bahnschrift Light SemiCondensed" panose="020B0502040204020203" pitchFamily="34" charset="0"/>
              </a:rPr>
              <a:t>Объектом исследования является деятельность </a:t>
            </a:r>
            <a:r>
              <a:rPr lang="ru-RU" sz="3200" dirty="0" err="1">
                <a:latin typeface="Bahnschrift Light SemiCondensed" panose="020B0502040204020203" pitchFamily="34" charset="0"/>
              </a:rPr>
              <a:t>минимаркета</a:t>
            </a:r>
            <a:r>
              <a:rPr lang="ru-RU" sz="3200" dirty="0">
                <a:latin typeface="Bahnschrift Light SemiCondensed" panose="020B0502040204020203" pitchFamily="34" charset="0"/>
              </a:rPr>
              <a:t> как субъекта розничной торговли, осуществляющего реализацию продовольственных и непродовольственных товаров. 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3740246-1CF4-415C-BD40-AB8641C76599}"/>
              </a:ext>
            </a:extLst>
          </p:cNvPr>
          <p:cNvSpPr/>
          <p:nvPr/>
        </p:nvSpPr>
        <p:spPr>
          <a:xfrm>
            <a:off x="9372600" y="6834871"/>
            <a:ext cx="8763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latin typeface="Bahnschrift Light SemiCondensed" panose="020B0502040204020203" pitchFamily="34" charset="0"/>
              </a:rPr>
              <a:t>Предметом исследования выступают процессы мониторинга, анализа и интерпретации ключевых показателей эффективности, характеризующих результаты финансово-хозяйственной деятельности предприятия. 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60040ACB-963B-42B0-8B43-8277F2385D08}"/>
              </a:ext>
            </a:extLst>
          </p:cNvPr>
          <p:cNvSpPr txBox="1"/>
          <p:nvPr/>
        </p:nvSpPr>
        <p:spPr>
          <a:xfrm>
            <a:off x="17516168" y="9076788"/>
            <a:ext cx="77183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8000" b="1" spc="-2193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4</a:t>
            </a:r>
            <a:endParaRPr lang="en-US" sz="11500" b="1" spc="-2193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3">
            <a:extLst>
              <a:ext uri="{FF2B5EF4-FFF2-40B4-BE49-F238E27FC236}">
                <a16:creationId xmlns:a16="http://schemas.microsoft.com/office/drawing/2014/main" id="{7E2A7698-3E60-4B97-BF7B-A1C07C8EED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77800" y="-1615264"/>
            <a:ext cx="7365335" cy="752076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EBE8333-1007-4A93-8522-80E34E4DA4BD}"/>
              </a:ext>
            </a:extLst>
          </p:cNvPr>
          <p:cNvSpPr/>
          <p:nvPr/>
        </p:nvSpPr>
        <p:spPr>
          <a:xfrm>
            <a:off x="838200" y="2171700"/>
            <a:ext cx="8153400" cy="2209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Экономическая сущность и значение ключевых показателей эффективности в деятельности предприятия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712B311-6AB4-4F81-BD0F-8AAF40AE810F}"/>
              </a:ext>
            </a:extLst>
          </p:cNvPr>
          <p:cNvSpPr/>
          <p:nvPr/>
        </p:nvSpPr>
        <p:spPr>
          <a:xfrm>
            <a:off x="5486400" y="7429502"/>
            <a:ext cx="8153400" cy="2209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Критерии выбора программных и информационно‑аналитических решений для поддержки управленческих решений в розничной торговле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8C38508-D616-4136-898F-565DB24005DF}"/>
              </a:ext>
            </a:extLst>
          </p:cNvPr>
          <p:cNvSpPr/>
          <p:nvPr/>
        </p:nvSpPr>
        <p:spPr>
          <a:xfrm>
            <a:off x="3124200" y="4800601"/>
            <a:ext cx="8153400" cy="2209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Подходы к оценке и мониторингу ключевых показателей эффективности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D014FB8-9CB4-4A66-8889-CEA6690246BD}"/>
              </a:ext>
            </a:extLst>
          </p:cNvPr>
          <p:cNvSpPr/>
          <p:nvPr/>
        </p:nvSpPr>
        <p:spPr>
          <a:xfrm>
            <a:off x="419100" y="342900"/>
            <a:ext cx="121539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latin typeface="Franklin Gothic Heavy" panose="020B0903020102020204" pitchFamily="34" charset="0"/>
              </a:rPr>
              <a:t>В первой главе выпускной квалификационной работы рассмотрены: </a:t>
            </a:r>
          </a:p>
        </p:txBody>
      </p:sp>
      <p:pic>
        <p:nvPicPr>
          <p:cNvPr id="16" name="Grafik 3">
            <a:extLst>
              <a:ext uri="{FF2B5EF4-FFF2-40B4-BE49-F238E27FC236}">
                <a16:creationId xmlns:a16="http://schemas.microsoft.com/office/drawing/2014/main" id="{BABA54A3-C6EB-413E-8FE4-B6F08808DAB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600200" y="7577389"/>
            <a:ext cx="4038600" cy="4123826"/>
          </a:xfrm>
          <a:prstGeom prst="rect">
            <a:avLst/>
          </a:prstGeom>
        </p:spPr>
      </p:pic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FE77F6F2-2F47-4EC9-BF4D-24F811D0252F}"/>
              </a:ext>
            </a:extLst>
          </p:cNvPr>
          <p:cNvCxnSpPr>
            <a:stCxn id="11" idx="1"/>
            <a:endCxn id="13" idx="1"/>
          </p:cNvCxnSpPr>
          <p:nvPr/>
        </p:nvCxnSpPr>
        <p:spPr>
          <a:xfrm rot="10800000" flipH="1" flipV="1">
            <a:off x="838200" y="3276599"/>
            <a:ext cx="2286000" cy="2628901"/>
          </a:xfrm>
          <a:prstGeom prst="bentConnector3">
            <a:avLst>
              <a:gd name="adj1" fmla="val -1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4E2705FD-338C-40F9-918E-F50219190B0F}"/>
              </a:ext>
            </a:extLst>
          </p:cNvPr>
          <p:cNvCxnSpPr>
            <a:stCxn id="13" idx="3"/>
            <a:endCxn id="12" idx="3"/>
          </p:cNvCxnSpPr>
          <p:nvPr/>
        </p:nvCxnSpPr>
        <p:spPr>
          <a:xfrm>
            <a:off x="11277600" y="5905501"/>
            <a:ext cx="2362200" cy="2628901"/>
          </a:xfrm>
          <a:prstGeom prst="bentConnector3">
            <a:avLst>
              <a:gd name="adj1" fmla="val 10967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3">
            <a:extLst>
              <a:ext uri="{FF2B5EF4-FFF2-40B4-BE49-F238E27FC236}">
                <a16:creationId xmlns:a16="http://schemas.microsoft.com/office/drawing/2014/main" id="{E127D8F1-347A-4DFC-8971-612DF7591185}"/>
              </a:ext>
            </a:extLst>
          </p:cNvPr>
          <p:cNvSpPr txBox="1"/>
          <p:nvPr/>
        </p:nvSpPr>
        <p:spPr>
          <a:xfrm>
            <a:off x="17516168" y="9076788"/>
            <a:ext cx="77183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8000" b="1" spc="-2193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5</a:t>
            </a:r>
            <a:endParaRPr lang="en-US" sz="11500" b="1" spc="-2193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</p:spTree>
    <p:extLst>
      <p:ext uri="{BB962C8B-B14F-4D97-AF65-F5344CB8AC3E}">
        <p14:creationId xmlns:p14="http://schemas.microsoft.com/office/powerpoint/2010/main" val="3953985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BB3C3-C091-43B3-9CD6-9770A0CE9B44}"/>
              </a:ext>
            </a:extLst>
          </p:cNvPr>
          <p:cNvSpPr txBox="1">
            <a:spLocks/>
          </p:cNvSpPr>
          <p:nvPr/>
        </p:nvSpPr>
        <p:spPr>
          <a:xfrm>
            <a:off x="838200" y="114300"/>
            <a:ext cx="17907000" cy="1524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Анализ деятельности </a:t>
            </a:r>
            <a:r>
              <a:rPr lang="ru-RU" sz="5400" dirty="0" err="1">
                <a:solidFill>
                  <a:schemeClr val="bg1"/>
                </a:solidFill>
                <a:latin typeface="Franklin Gothic Medium" panose="020B0603020102020204" pitchFamily="34" charset="0"/>
              </a:rPr>
              <a:t>минимаркета</a:t>
            </a:r>
            <a:r>
              <a:rPr lang="ru-RU" sz="54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 ООО «СВЕЖАЧОК», </a:t>
            </a:r>
            <a:r>
              <a:rPr lang="ru-RU" sz="5400" dirty="0" err="1">
                <a:solidFill>
                  <a:schemeClr val="bg1"/>
                </a:solidFill>
                <a:latin typeface="Franklin Gothic Medium" panose="020B0603020102020204" pitchFamily="34" charset="0"/>
              </a:rPr>
              <a:t>тыс.руб</a:t>
            </a:r>
            <a:endParaRPr lang="ru-RU" sz="54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0540FD77-0869-4E23-889A-ED558B3B8C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60005"/>
              </p:ext>
            </p:extLst>
          </p:nvPr>
        </p:nvGraphicFramePr>
        <p:xfrm>
          <a:off x="723900" y="2019300"/>
          <a:ext cx="11544300" cy="716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Объект 4">
            <a:extLst>
              <a:ext uri="{FF2B5EF4-FFF2-40B4-BE49-F238E27FC236}">
                <a16:creationId xmlns:a16="http://schemas.microsoft.com/office/drawing/2014/main" id="{E5A57F1D-F79A-44A2-967E-E4E282167D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0257241"/>
              </p:ext>
            </p:extLst>
          </p:nvPr>
        </p:nvGraphicFramePr>
        <p:xfrm>
          <a:off x="12268200" y="4222340"/>
          <a:ext cx="5867399" cy="2756719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1107685">
                  <a:extLst>
                    <a:ext uri="{9D8B030D-6E8A-4147-A177-3AD203B41FA5}">
                      <a16:colId xmlns:a16="http://schemas.microsoft.com/office/drawing/2014/main" val="893657388"/>
                    </a:ext>
                  </a:extLst>
                </a:gridCol>
                <a:gridCol w="1084354">
                  <a:extLst>
                    <a:ext uri="{9D8B030D-6E8A-4147-A177-3AD203B41FA5}">
                      <a16:colId xmlns:a16="http://schemas.microsoft.com/office/drawing/2014/main" val="852494754"/>
                    </a:ext>
                  </a:extLst>
                </a:gridCol>
                <a:gridCol w="1051781">
                  <a:extLst>
                    <a:ext uri="{9D8B030D-6E8A-4147-A177-3AD203B41FA5}">
                      <a16:colId xmlns:a16="http://schemas.microsoft.com/office/drawing/2014/main" val="156980442"/>
                    </a:ext>
                  </a:extLst>
                </a:gridCol>
                <a:gridCol w="1032230">
                  <a:extLst>
                    <a:ext uri="{9D8B030D-6E8A-4147-A177-3AD203B41FA5}">
                      <a16:colId xmlns:a16="http://schemas.microsoft.com/office/drawing/2014/main" val="84332004"/>
                    </a:ext>
                  </a:extLst>
                </a:gridCol>
                <a:gridCol w="1591349">
                  <a:extLst>
                    <a:ext uri="{9D8B030D-6E8A-4147-A177-3AD203B41FA5}">
                      <a16:colId xmlns:a16="http://schemas.microsoft.com/office/drawing/2014/main" val="1035640043"/>
                    </a:ext>
                  </a:extLst>
                </a:gridCol>
              </a:tblGrid>
              <a:tr h="6076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Bahnschrift Light SemiCondensed" panose="020B0502040204020203" pitchFamily="34" charset="0"/>
                        </a:rPr>
                        <a:t>Показатель</a:t>
                      </a:r>
                      <a:endParaRPr lang="ru-RU" sz="1600" dirty="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Bahnschrift Light SemiCondensed" panose="020B0502040204020203" pitchFamily="34" charset="0"/>
                        </a:rPr>
                        <a:t>2023 г.</a:t>
                      </a:r>
                      <a:endParaRPr lang="ru-RU" sz="1600" dirty="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Bahnschrift Light SemiCondensed" panose="020B0502040204020203" pitchFamily="34" charset="0"/>
                        </a:rPr>
                        <a:t>2024 г.</a:t>
                      </a:r>
                      <a:endParaRPr lang="ru-RU" sz="1600" dirty="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Bahnschrift Light SemiCondensed" panose="020B0502040204020203" pitchFamily="34" charset="0"/>
                        </a:rPr>
                        <a:t>2025 г.</a:t>
                      </a:r>
                      <a:endParaRPr lang="ru-RU" sz="160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Bahnschrift Light SemiCondensed" panose="020B0502040204020203" pitchFamily="34" charset="0"/>
                        </a:rPr>
                        <a:t>Изменение 2025/2023</a:t>
                      </a:r>
                      <a:endParaRPr lang="ru-RU" sz="1600" dirty="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134686"/>
                  </a:ext>
                </a:extLst>
              </a:tr>
              <a:tr h="33179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Bahnschrift Light SemiCondensed" panose="020B0502040204020203" pitchFamily="34" charset="0"/>
                        </a:rPr>
                        <a:t>Выручка</a:t>
                      </a:r>
                      <a:endParaRPr lang="ru-RU" sz="1600" dirty="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Bahnschrift Light SemiCondensed" panose="020B0502040204020203" pitchFamily="34" charset="0"/>
                        </a:rPr>
                        <a:t>81</a:t>
                      </a:r>
                      <a:endParaRPr lang="ru-RU" sz="1600" dirty="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Bahnschrift Light SemiCondensed" panose="020B0502040204020203" pitchFamily="34" charset="0"/>
                        </a:rPr>
                        <a:t>1 208</a:t>
                      </a:r>
                      <a:endParaRPr lang="ru-RU" sz="1600" dirty="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Bahnschrift Light SemiCondensed" panose="020B0502040204020203" pitchFamily="34" charset="0"/>
                        </a:rPr>
                        <a:t>1 719</a:t>
                      </a:r>
                      <a:endParaRPr lang="ru-RU" sz="160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Bahnschrift Light SemiCondensed" panose="020B0502040204020203" pitchFamily="34" charset="0"/>
                        </a:rPr>
                        <a:t>↑ 43 %</a:t>
                      </a:r>
                      <a:endParaRPr lang="ru-RU" sz="160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34661"/>
                  </a:ext>
                </a:extLst>
              </a:tr>
              <a:tr h="114275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Bahnschrift Light SemiCondensed" panose="020B0502040204020203" pitchFamily="34" charset="0"/>
                        </a:rPr>
                        <a:t>Чистая прибыль</a:t>
                      </a:r>
                      <a:endParaRPr lang="ru-RU" sz="160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Bahnschrift Light SemiCondensed" panose="020B0502040204020203" pitchFamily="34" charset="0"/>
                        </a:rPr>
                        <a:t>-41</a:t>
                      </a:r>
                      <a:endParaRPr lang="ru-RU" sz="160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Bahnschrift Light SemiCondensed" panose="020B0502040204020203" pitchFamily="34" charset="0"/>
                        </a:rPr>
                        <a:t>357</a:t>
                      </a:r>
                      <a:endParaRPr lang="ru-RU" sz="1600" dirty="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Bahnschrift Light SemiCondensed" panose="020B0502040204020203" pitchFamily="34" charset="0"/>
                        </a:rPr>
                        <a:t>150</a:t>
                      </a:r>
                      <a:endParaRPr lang="ru-RU" sz="1600" dirty="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Bahnschrift Light SemiCondensed" panose="020B0502040204020203" pitchFamily="34" charset="0"/>
                        </a:rPr>
                        <a:t>↓ 58 %</a:t>
                      </a:r>
                      <a:endParaRPr lang="ru-RU" sz="1600" dirty="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433718"/>
                  </a:ext>
                </a:extLst>
              </a:tr>
              <a:tr h="67448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Bahnschrift Light SemiCondensed" panose="020B0502040204020203" pitchFamily="34" charset="0"/>
                        </a:rPr>
                        <a:t>Прочие расходы</a:t>
                      </a:r>
                      <a:endParaRPr lang="ru-RU" sz="160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Bahnschrift Light SemiCondensed" panose="020B0502040204020203" pitchFamily="34" charset="0"/>
                        </a:rPr>
                        <a:t>67</a:t>
                      </a:r>
                      <a:endParaRPr lang="ru-RU" sz="160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Bahnschrift Light SemiCondensed" panose="020B0502040204020203" pitchFamily="34" charset="0"/>
                        </a:rPr>
                        <a:t>87</a:t>
                      </a:r>
                      <a:endParaRPr lang="ru-RU" sz="160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Bahnschrift Light SemiCondensed" panose="020B0502040204020203" pitchFamily="34" charset="0"/>
                        </a:rPr>
                        <a:t>598</a:t>
                      </a:r>
                      <a:endParaRPr lang="ru-RU" sz="160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Bahnschrift Light SemiCondensed" panose="020B0502040204020203" pitchFamily="34" charset="0"/>
                        </a:rPr>
                        <a:t>↑ 588 %</a:t>
                      </a:r>
                      <a:endParaRPr lang="ru-RU" sz="1600" dirty="0">
                        <a:effectLst/>
                        <a:latin typeface="Bahnschrift Light SemiCondensed" panose="020B0502040204020203" pitchFamily="34" charset="0"/>
                        <a:ea typeface="Times New Roman" panose="02020603050405020304" pitchFamily="18" charset="0"/>
                      </a:endParaRPr>
                    </a:p>
                  </a:txBody>
                  <a:tcPr marL="64011" marR="6401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024304"/>
                  </a:ext>
                </a:extLst>
              </a:tr>
            </a:tbl>
          </a:graphicData>
        </a:graphic>
      </p:graphicFrame>
      <p:sp>
        <p:nvSpPr>
          <p:cNvPr id="14" name="TextBox 3">
            <a:extLst>
              <a:ext uri="{FF2B5EF4-FFF2-40B4-BE49-F238E27FC236}">
                <a16:creationId xmlns:a16="http://schemas.microsoft.com/office/drawing/2014/main" id="{996BFB03-7B6B-4A05-B39D-0B15906ED4DF}"/>
              </a:ext>
            </a:extLst>
          </p:cNvPr>
          <p:cNvSpPr txBox="1"/>
          <p:nvPr/>
        </p:nvSpPr>
        <p:spPr>
          <a:xfrm>
            <a:off x="17516168" y="9076788"/>
            <a:ext cx="77183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8000" b="1" spc="-2193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6</a:t>
            </a:r>
            <a:endParaRPr lang="en-US" sz="11500" b="1" spc="-2193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</p:spTree>
    <p:extLst>
      <p:ext uri="{BB962C8B-B14F-4D97-AF65-F5344CB8AC3E}">
        <p14:creationId xmlns:p14="http://schemas.microsoft.com/office/powerpoint/2010/main" val="270531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00BE966-0F75-4C62-8F61-F72BA787425D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88"/>
          <a:stretch/>
        </p:blipFill>
        <p:spPr>
          <a:xfrm>
            <a:off x="919316" y="2349910"/>
            <a:ext cx="13106400" cy="75057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DDB63C8-0887-46B6-8B04-5963435EEF0F}"/>
              </a:ext>
            </a:extLst>
          </p:cNvPr>
          <p:cNvSpPr txBox="1">
            <a:spLocks/>
          </p:cNvSpPr>
          <p:nvPr/>
        </p:nvSpPr>
        <p:spPr>
          <a:xfrm>
            <a:off x="7315200" y="266700"/>
            <a:ext cx="11353800" cy="1905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Системы учета и структуры информационного обеспечения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E1478B8-0743-41CA-B90E-7227A97FCD4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92400" y="6438900"/>
            <a:ext cx="4038600" cy="4123826"/>
          </a:xfrm>
          <a:prstGeom prst="rect">
            <a:avLst/>
          </a:prstGeom>
        </p:spPr>
      </p:pic>
      <p:pic>
        <p:nvPicPr>
          <p:cNvPr id="5" name="Grafik 3">
            <a:extLst>
              <a:ext uri="{FF2B5EF4-FFF2-40B4-BE49-F238E27FC236}">
                <a16:creationId xmlns:a16="http://schemas.microsoft.com/office/drawing/2014/main" id="{8E590AEF-C8AA-4C04-BE80-E567CE58C27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097167">
            <a:off x="701007" y="-3370451"/>
            <a:ext cx="4038600" cy="5870071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FF7EE129-2DEA-44A3-8276-7EDEAB68F7CB}"/>
              </a:ext>
            </a:extLst>
          </p:cNvPr>
          <p:cNvSpPr txBox="1"/>
          <p:nvPr/>
        </p:nvSpPr>
        <p:spPr>
          <a:xfrm>
            <a:off x="147484" y="9137010"/>
            <a:ext cx="77183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8000" b="1" spc="-2193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7</a:t>
            </a:r>
            <a:endParaRPr lang="en-US" sz="11500" b="1" spc="-2193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</p:spTree>
    <p:extLst>
      <p:ext uri="{BB962C8B-B14F-4D97-AF65-F5344CB8AC3E}">
        <p14:creationId xmlns:p14="http://schemas.microsoft.com/office/powerpoint/2010/main" val="1870758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A5F538D-E9F7-416F-A3D5-6B0C9D912E26}"/>
              </a:ext>
            </a:extLst>
          </p:cNvPr>
          <p:cNvSpPr/>
          <p:nvPr/>
        </p:nvSpPr>
        <p:spPr>
          <a:xfrm>
            <a:off x="13063112" y="715814"/>
            <a:ext cx="43890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Medium" panose="020B0603020102020204" pitchFamily="34" charset="0"/>
              </a:rPr>
              <a:t>Информационные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FEFCC7F-ACED-4613-A591-E1A935BBBED6}"/>
              </a:ext>
            </a:extLst>
          </p:cNvPr>
          <p:cNvSpPr/>
          <p:nvPr/>
        </p:nvSpPr>
        <p:spPr>
          <a:xfrm>
            <a:off x="824373" y="666347"/>
            <a:ext cx="465223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400" b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Medium" panose="020B0603020102020204" pitchFamily="34" charset="0"/>
              </a:rPr>
              <a:t>Функциональные 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A15857F-36B1-4631-8D57-0DECEDFD2EFF}"/>
              </a:ext>
            </a:extLst>
          </p:cNvPr>
          <p:cNvSpPr/>
          <p:nvPr/>
        </p:nvSpPr>
        <p:spPr>
          <a:xfrm>
            <a:off x="6348788" y="715814"/>
            <a:ext cx="56094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000" b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Medium" panose="020B0603020102020204" pitchFamily="34" charset="0"/>
              </a:rPr>
              <a:t>К удобству пользования</a:t>
            </a:r>
            <a:endParaRPr lang="ru-RU" sz="4000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Medium" panose="020B0603020102020204" pitchFamily="34" charset="0"/>
            </a:endParaRPr>
          </a:p>
        </p:txBody>
      </p:sp>
      <p:pic>
        <p:nvPicPr>
          <p:cNvPr id="15" name="Grafik 3">
            <a:extLst>
              <a:ext uri="{FF2B5EF4-FFF2-40B4-BE49-F238E27FC236}">
                <a16:creationId xmlns:a16="http://schemas.microsoft.com/office/drawing/2014/main" id="{66623A6E-AAAE-4BE8-B1B4-EB55168B1A7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4373" y="2801439"/>
            <a:ext cx="7365335" cy="7520765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1122D1A-91D3-4471-A9D7-9520C4FF02D2}"/>
              </a:ext>
            </a:extLst>
          </p:cNvPr>
          <p:cNvSpPr/>
          <p:nvPr/>
        </p:nvSpPr>
        <p:spPr>
          <a:xfrm>
            <a:off x="280108" y="1248096"/>
            <a:ext cx="5740767" cy="310854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Визуализация KPI, графиков и диаграмм;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Анализ данных по периодам;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Детализация по товарам и категориям;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Сравнение показателей за разные периоды.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03BEA7F-A44C-4DF6-A8F2-5D07FA350A55}"/>
              </a:ext>
            </a:extLst>
          </p:cNvPr>
          <p:cNvSpPr/>
          <p:nvPr/>
        </p:nvSpPr>
        <p:spPr>
          <a:xfrm>
            <a:off x="12286186" y="1248096"/>
            <a:ext cx="5741367" cy="31104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Использование данных из 1С;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Актуальность информации;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Целостность и достоверность данных.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066CD1-9327-4D3E-8225-D4F8668CB37B}"/>
              </a:ext>
            </a:extLst>
          </p:cNvPr>
          <p:cNvSpPr/>
          <p:nvPr/>
        </p:nvSpPr>
        <p:spPr>
          <a:xfrm>
            <a:off x="6345338" y="1248096"/>
            <a:ext cx="5616385" cy="31104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Наглядное представление информации;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Понятный интерфейс;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Доступ к ключевым показателям в одном окне.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2C9889B-EBEE-46C2-A0DA-C1AF30DB65A8}"/>
              </a:ext>
            </a:extLst>
          </p:cNvPr>
          <p:cNvSpPr/>
          <p:nvPr/>
        </p:nvSpPr>
        <p:spPr>
          <a:xfrm>
            <a:off x="6305927" y="6286500"/>
            <a:ext cx="11960518" cy="2646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600" b="1" spc="-300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</a:rPr>
              <a:t>Требования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E775ECA3-6830-477A-BD06-496238D68B8C}"/>
              </a:ext>
            </a:extLst>
          </p:cNvPr>
          <p:cNvSpPr txBox="1"/>
          <p:nvPr/>
        </p:nvSpPr>
        <p:spPr>
          <a:xfrm>
            <a:off x="147484" y="9137010"/>
            <a:ext cx="77183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8000" b="1" spc="-2193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8</a:t>
            </a:r>
            <a:endParaRPr lang="en-US" sz="11500" b="1" spc="-2193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</p:spTree>
    <p:extLst>
      <p:ext uri="{BB962C8B-B14F-4D97-AF65-F5344CB8AC3E}">
        <p14:creationId xmlns:p14="http://schemas.microsoft.com/office/powerpoint/2010/main" val="755283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2978266-4E10-4AFC-B68D-9C2201E7382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790700"/>
            <a:ext cx="11887200" cy="80772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D4506BC-00BA-48D7-B79B-AD299C6B6773}"/>
              </a:ext>
            </a:extLst>
          </p:cNvPr>
          <p:cNvSpPr/>
          <p:nvPr/>
        </p:nvSpPr>
        <p:spPr>
          <a:xfrm>
            <a:off x="2133600" y="514311"/>
            <a:ext cx="16459200" cy="900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anchor="ctr">
            <a:spAutoFit/>
          </a:bodyPr>
          <a:lstStyle/>
          <a:p>
            <a:r>
              <a:rPr lang="ru-RU" sz="3200" kern="0" dirty="0">
                <a:solidFill>
                  <a:schemeClr val="bg1"/>
                </a:solidFill>
                <a:latin typeface="Franklin Gothic Medium" panose="020B0603020102020204" pitchFamily="34" charset="0"/>
                <a:ea typeface="Times New Roman" panose="02020603050405020304" pitchFamily="18" charset="0"/>
              </a:rPr>
              <a:t>    Архитектура информационно-аналитической системы мониторинга KPI </a:t>
            </a:r>
            <a:r>
              <a:rPr lang="ru-RU" sz="3200" kern="0" dirty="0" err="1">
                <a:solidFill>
                  <a:schemeClr val="bg1"/>
                </a:solidFill>
                <a:latin typeface="Franklin Gothic Medium" panose="020B0603020102020204" pitchFamily="34" charset="0"/>
                <a:ea typeface="Times New Roman" panose="02020603050405020304" pitchFamily="18" charset="0"/>
              </a:rPr>
              <a:t>минимаркета</a:t>
            </a:r>
            <a:endParaRPr lang="ru-RU" sz="32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72D049B-4FD7-436D-838B-33CB277132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000" y="6134100"/>
            <a:ext cx="4648200" cy="5038226"/>
          </a:xfrm>
          <a:prstGeom prst="rect">
            <a:avLst/>
          </a:prstGeom>
        </p:spPr>
      </p:pic>
      <p:pic>
        <p:nvPicPr>
          <p:cNvPr id="5" name="Grafik 3">
            <a:extLst>
              <a:ext uri="{FF2B5EF4-FFF2-40B4-BE49-F238E27FC236}">
                <a16:creationId xmlns:a16="http://schemas.microsoft.com/office/drawing/2014/main" id="{F715FF09-B5BB-43B0-9ACF-460FC6CAF0C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895600" y="647700"/>
            <a:ext cx="4038600" cy="5791200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EB95EE6B-4060-4429-AAC7-7C202D12E132}"/>
              </a:ext>
            </a:extLst>
          </p:cNvPr>
          <p:cNvSpPr txBox="1"/>
          <p:nvPr/>
        </p:nvSpPr>
        <p:spPr>
          <a:xfrm>
            <a:off x="152400" y="9064014"/>
            <a:ext cx="77183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8000" b="1" spc="-2193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9</a:t>
            </a:r>
            <a:endParaRPr lang="en-US" sz="11500" b="1" spc="-2193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</p:spTree>
    <p:extLst>
      <p:ext uri="{BB962C8B-B14F-4D97-AF65-F5344CB8AC3E}">
        <p14:creationId xmlns:p14="http://schemas.microsoft.com/office/powerpoint/2010/main" val="652538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1F142E2-E33A-4C5B-9576-89344533EA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975575">
            <a:off x="16656017" y="6043436"/>
            <a:ext cx="4385933" cy="475395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D9F52-37F3-4AC6-A7D2-F760D6A21B24}"/>
              </a:ext>
            </a:extLst>
          </p:cNvPr>
          <p:cNvSpPr txBox="1">
            <a:spLocks/>
          </p:cNvSpPr>
          <p:nvPr/>
        </p:nvSpPr>
        <p:spPr>
          <a:xfrm>
            <a:off x="457199" y="152400"/>
            <a:ext cx="17862755" cy="10668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              </a:t>
            </a:r>
            <a:r>
              <a:rPr lang="ru-RU" sz="3200"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Разработанный </a:t>
            </a:r>
            <a:r>
              <a:rPr lang="ru-RU" sz="3200" b="1" dirty="0" err="1">
                <a:solidFill>
                  <a:schemeClr val="bg1"/>
                </a:solidFill>
                <a:latin typeface="Franklin Gothic Medium" panose="020B0603020102020204" pitchFamily="34" charset="0"/>
              </a:rPr>
              <a:t>дашборд</a:t>
            </a:r>
            <a:r>
              <a:rPr lang="ru-RU" sz="3200"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 для мониторинга </a:t>
            </a:r>
            <a:r>
              <a:rPr lang="en-US" sz="3200"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KPI </a:t>
            </a:r>
            <a:r>
              <a:rPr lang="ru-RU" sz="3200" b="1" dirty="0" err="1">
                <a:solidFill>
                  <a:schemeClr val="bg1"/>
                </a:solidFill>
                <a:latin typeface="Franklin Gothic Medium" panose="020B0603020102020204" pitchFamily="34" charset="0"/>
              </a:rPr>
              <a:t>минимаркета</a:t>
            </a:r>
            <a:r>
              <a:rPr lang="ru-RU" sz="3200" b="1" dirty="0">
                <a:solidFill>
                  <a:schemeClr val="bg1"/>
                </a:solidFill>
                <a:latin typeface="Franklin Gothic Medium" panose="020B0603020102020204" pitchFamily="34" charset="0"/>
              </a:rPr>
              <a:t> ООО «СВЕЖАЧОК»</a:t>
            </a:r>
          </a:p>
        </p:txBody>
      </p:sp>
      <p:pic>
        <p:nvPicPr>
          <p:cNvPr id="3" name="Объект 3">
            <a:extLst>
              <a:ext uri="{FF2B5EF4-FFF2-40B4-BE49-F238E27FC236}">
                <a16:creationId xmlns:a16="http://schemas.microsoft.com/office/drawing/2014/main" id="{B21AA24C-3091-4FD8-BB14-87C6A6A11CA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1385119"/>
            <a:ext cx="14706600" cy="8686800"/>
          </a:xfrm>
          <a:prstGeom prst="rect">
            <a:avLst/>
          </a:prstGeom>
        </p:spPr>
      </p:pic>
      <p:pic>
        <p:nvPicPr>
          <p:cNvPr id="5" name="Grafik 3">
            <a:extLst>
              <a:ext uri="{FF2B5EF4-FFF2-40B4-BE49-F238E27FC236}">
                <a16:creationId xmlns:a16="http://schemas.microsoft.com/office/drawing/2014/main" id="{E1D20F15-5366-40FC-AF25-5FD5F96F26C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663701">
            <a:off x="-1923340" y="1856637"/>
            <a:ext cx="2667000" cy="4038600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E9097F71-D194-4B3F-B25E-C2109C773F3F}"/>
              </a:ext>
            </a:extLst>
          </p:cNvPr>
          <p:cNvSpPr txBox="1"/>
          <p:nvPr/>
        </p:nvSpPr>
        <p:spPr>
          <a:xfrm>
            <a:off x="147484" y="9137010"/>
            <a:ext cx="130031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8000" b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10</a:t>
            </a:r>
            <a:endParaRPr lang="en-US" sz="11500" b="1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</p:spTree>
    <p:extLst>
      <p:ext uri="{BB962C8B-B14F-4D97-AF65-F5344CB8AC3E}">
        <p14:creationId xmlns:p14="http://schemas.microsoft.com/office/powerpoint/2010/main" val="2326098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rafik 3">
            <a:extLst>
              <a:ext uri="{FF2B5EF4-FFF2-40B4-BE49-F238E27FC236}">
                <a16:creationId xmlns:a16="http://schemas.microsoft.com/office/drawing/2014/main" id="{C7185C20-A705-4E5E-8AA0-FC0F75A9F8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940431">
            <a:off x="-1509280" y="6366979"/>
            <a:ext cx="5754404" cy="5875839"/>
          </a:xfrm>
          <a:prstGeom prst="rect">
            <a:avLst/>
          </a:prstGeom>
        </p:spPr>
      </p:pic>
      <p:pic>
        <p:nvPicPr>
          <p:cNvPr id="58" name="Grafik 3">
            <a:extLst>
              <a:ext uri="{FF2B5EF4-FFF2-40B4-BE49-F238E27FC236}">
                <a16:creationId xmlns:a16="http://schemas.microsoft.com/office/drawing/2014/main" id="{F061C726-DA85-42F5-9D74-E907BBA414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823979">
            <a:off x="12770472" y="-3265255"/>
            <a:ext cx="7365335" cy="752076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90FA011-C89C-4027-9289-0116A0AC6CD0}"/>
              </a:ext>
            </a:extLst>
          </p:cNvPr>
          <p:cNvSpPr/>
          <p:nvPr/>
        </p:nvSpPr>
        <p:spPr>
          <a:xfrm>
            <a:off x="3898053" y="-502260"/>
            <a:ext cx="8658139" cy="2646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600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</a:rPr>
              <a:t>Выводы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4A5691D-CD5A-4AA8-A205-5DD5E41D8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259" y="2350065"/>
            <a:ext cx="9338187" cy="138499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</a:rPr>
              <a:t>Разработан интерактивный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</a:rPr>
              <a:t>дашборд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Bahnschrift Light SemiCondensed" panose="020B0502040204020203" pitchFamily="34" charset="0"/>
              </a:rPr>
              <a:t> для мониторинга ключевых показателей эффективности деятельности ООО «СВЕЖАЧОК». 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4093EFA-214E-4E50-87D9-12A900A1A60C}"/>
              </a:ext>
            </a:extLst>
          </p:cNvPr>
          <p:cNvSpPr/>
          <p:nvPr/>
        </p:nvSpPr>
        <p:spPr>
          <a:xfrm>
            <a:off x="8227124" y="4059384"/>
            <a:ext cx="9144000" cy="138499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Реализована визуализация данных, обеспечивающая оперативный анализ финансовых и торговых показателей предприятия. 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E27E85A-22FD-44BE-8F39-833DEF0150B1}"/>
              </a:ext>
            </a:extLst>
          </p:cNvPr>
          <p:cNvSpPr/>
          <p:nvPr/>
        </p:nvSpPr>
        <p:spPr>
          <a:xfrm>
            <a:off x="511257" y="5778162"/>
            <a:ext cx="9338187" cy="138499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Разработанное решение может использоваться руководством для принятия управленческих решений и повышения эффективности деятельности. 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41A9A67-C7BD-468D-A8FD-94ED33767933}"/>
              </a:ext>
            </a:extLst>
          </p:cNvPr>
          <p:cNvSpPr/>
          <p:nvPr/>
        </p:nvSpPr>
        <p:spPr>
          <a:xfrm>
            <a:off x="8246789" y="7429500"/>
            <a:ext cx="9124335" cy="138499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Перспективы развития проекта связаны с расширением набора показателей, автоматизацией обновления данных и внедрением инструментов прогнозной аналитики. </a:t>
            </a:r>
          </a:p>
        </p:txBody>
      </p:sp>
      <p:cxnSp>
        <p:nvCxnSpPr>
          <p:cNvPr id="34" name="Соединитель: уступ 33">
            <a:extLst>
              <a:ext uri="{FF2B5EF4-FFF2-40B4-BE49-F238E27FC236}">
                <a16:creationId xmlns:a16="http://schemas.microsoft.com/office/drawing/2014/main" id="{544C93DC-7CE6-4417-BF1F-44CE47936693}"/>
              </a:ext>
            </a:extLst>
          </p:cNvPr>
          <p:cNvCxnSpPr>
            <a:cxnSpLocks/>
            <a:stCxn id="13" idx="1"/>
            <a:endCxn id="16" idx="1"/>
          </p:cNvCxnSpPr>
          <p:nvPr/>
        </p:nvCxnSpPr>
        <p:spPr>
          <a:xfrm rot="10800000" flipH="1" flipV="1">
            <a:off x="511258" y="3042562"/>
            <a:ext cx="7715865" cy="1709319"/>
          </a:xfrm>
          <a:prstGeom prst="bentConnector3">
            <a:avLst>
              <a:gd name="adj1" fmla="val -296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Соединитель: уступ 35">
            <a:extLst>
              <a:ext uri="{FF2B5EF4-FFF2-40B4-BE49-F238E27FC236}">
                <a16:creationId xmlns:a16="http://schemas.microsoft.com/office/drawing/2014/main" id="{52670A71-080C-402A-B98B-B721D4A5540F}"/>
              </a:ext>
            </a:extLst>
          </p:cNvPr>
          <p:cNvCxnSpPr>
            <a:cxnSpLocks/>
            <a:stCxn id="16" idx="3"/>
            <a:endCxn id="17" idx="3"/>
          </p:cNvCxnSpPr>
          <p:nvPr/>
        </p:nvCxnSpPr>
        <p:spPr>
          <a:xfrm flipH="1">
            <a:off x="9849444" y="4751882"/>
            <a:ext cx="7521680" cy="1718778"/>
          </a:xfrm>
          <a:prstGeom prst="bentConnector3">
            <a:avLst>
              <a:gd name="adj1" fmla="val -303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Соединитель: уступ 37">
            <a:extLst>
              <a:ext uri="{FF2B5EF4-FFF2-40B4-BE49-F238E27FC236}">
                <a16:creationId xmlns:a16="http://schemas.microsoft.com/office/drawing/2014/main" id="{E4756FBD-8D61-4A35-95E3-8B369EDE5CF6}"/>
              </a:ext>
            </a:extLst>
          </p:cNvPr>
          <p:cNvCxnSpPr>
            <a:cxnSpLocks/>
            <a:stCxn id="17" idx="1"/>
            <a:endCxn id="18" idx="1"/>
          </p:cNvCxnSpPr>
          <p:nvPr/>
        </p:nvCxnSpPr>
        <p:spPr>
          <a:xfrm rot="10800000" flipH="1" flipV="1">
            <a:off x="511257" y="6470660"/>
            <a:ext cx="7735532" cy="1651338"/>
          </a:xfrm>
          <a:prstGeom prst="bentConnector3">
            <a:avLst>
              <a:gd name="adj1" fmla="val -295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3">
            <a:extLst>
              <a:ext uri="{FF2B5EF4-FFF2-40B4-BE49-F238E27FC236}">
                <a16:creationId xmlns:a16="http://schemas.microsoft.com/office/drawing/2014/main" id="{D609E2C9-E54B-476E-962D-45B3F865F40D}"/>
              </a:ext>
            </a:extLst>
          </p:cNvPr>
          <p:cNvSpPr txBox="1"/>
          <p:nvPr/>
        </p:nvSpPr>
        <p:spPr>
          <a:xfrm>
            <a:off x="16799642" y="8960029"/>
            <a:ext cx="130031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8000" b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11</a:t>
            </a:r>
            <a:endParaRPr lang="en-US" sz="11500" b="1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</p:spTree>
    <p:extLst>
      <p:ext uri="{BB962C8B-B14F-4D97-AF65-F5344CB8AC3E}">
        <p14:creationId xmlns:p14="http://schemas.microsoft.com/office/powerpoint/2010/main" val="1764078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3">
            <a:extLst>
              <a:ext uri="{FF2B5EF4-FFF2-40B4-BE49-F238E27FC236}">
                <a16:creationId xmlns:a16="http://schemas.microsoft.com/office/drawing/2014/main" id="{DC80BB86-0731-4497-841C-5995927B06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940431">
            <a:off x="13806920" y="6698713"/>
            <a:ext cx="5754404" cy="5875839"/>
          </a:xfrm>
          <a:prstGeom prst="rect">
            <a:avLst/>
          </a:prstGeom>
        </p:spPr>
      </p:pic>
      <p:pic>
        <p:nvPicPr>
          <p:cNvPr id="15" name="Grafik 3">
            <a:extLst>
              <a:ext uri="{FF2B5EF4-FFF2-40B4-BE49-F238E27FC236}">
                <a16:creationId xmlns:a16="http://schemas.microsoft.com/office/drawing/2014/main" id="{93813160-0612-40E1-9B4D-DBF118D9445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940431">
            <a:off x="-1298821" y="-2003933"/>
            <a:ext cx="8023630" cy="587583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971800" y="1943100"/>
            <a:ext cx="13106400" cy="5309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ru-RU" sz="11500" b="1" spc="-150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  <a:ea typeface="Helvetica Now Heavy"/>
                <a:cs typeface="Helvetica Now Heavy"/>
                <a:sym typeface="Helvetica Now Heavy"/>
              </a:rPr>
              <a:t>«Управлять можно только тем, что можно измерить» </a:t>
            </a:r>
            <a:endParaRPr lang="en-US" sz="11500" b="1" spc="-150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  <a:ea typeface="Helvetica Now Heavy"/>
              <a:cs typeface="Helvetica Now Heavy"/>
              <a:sym typeface="Helvetica Now Heavy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F7DB6E4-C71F-476F-AAAC-4AB376F824A7}"/>
              </a:ext>
            </a:extLst>
          </p:cNvPr>
          <p:cNvSpPr/>
          <p:nvPr/>
        </p:nvSpPr>
        <p:spPr>
          <a:xfrm>
            <a:off x="990600" y="7353300"/>
            <a:ext cx="2514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spc="-150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Medium" panose="020B0603020102020204" pitchFamily="34" charset="0"/>
                <a:ea typeface="Helvetica Now Heavy"/>
                <a:cs typeface="Helvetica Now Heavy"/>
                <a:sym typeface="Helvetica Now Heavy"/>
              </a:rPr>
              <a:t>Питер </a:t>
            </a:r>
            <a:r>
              <a:rPr lang="ru-RU" sz="3200" spc="-150" dirty="0" err="1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Franklin Gothic Medium" panose="020B0603020102020204" pitchFamily="34" charset="0"/>
                <a:ea typeface="Helvetica Now Heavy"/>
                <a:cs typeface="Helvetica Now Heavy"/>
                <a:sym typeface="Helvetica Now Heavy"/>
              </a:rPr>
              <a:t>Друкер</a:t>
            </a:r>
            <a:endParaRPr lang="ru-RU" sz="500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510</Words>
  <Application>Microsoft Office PowerPoint</Application>
  <PresentationFormat>Произвольный</PresentationFormat>
  <Paragraphs>91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3" baseType="lpstr">
      <vt:lpstr>Helvetica Now Heavy</vt:lpstr>
      <vt:lpstr>Calibri</vt:lpstr>
      <vt:lpstr>Arial</vt:lpstr>
      <vt:lpstr>Aileron Light</vt:lpstr>
      <vt:lpstr>Aileron Bold</vt:lpstr>
      <vt:lpstr>Wingdings</vt:lpstr>
      <vt:lpstr>Franklin Gothic Heavy</vt:lpstr>
      <vt:lpstr>Times New Roman</vt:lpstr>
      <vt:lpstr>Franklin Gothic Medium</vt:lpstr>
      <vt:lpstr>Bahnschrift Light SemiCondensed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and Black Modern Brand Strategy Presentation</dc:title>
  <cp:lastModifiedBy>ralin</cp:lastModifiedBy>
  <cp:revision>39</cp:revision>
  <dcterms:created xsi:type="dcterms:W3CDTF">2006-08-16T00:00:00Z</dcterms:created>
  <dcterms:modified xsi:type="dcterms:W3CDTF">2026-06-25T16:08:38Z</dcterms:modified>
  <dc:identifier>DAHNYi3VDSY</dc:identifier>
</cp:coreProperties>
</file>